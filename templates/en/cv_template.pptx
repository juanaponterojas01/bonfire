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6858000" cy="9906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000" cy="191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DBF25AA-C460-41D4-8390-823267E5772A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0BE0117-5B5D-41AD-8A35-CD7E0328284B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9680" cy="230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9680" cy="703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9680" cy="550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F093157-8A86-4F6F-BA16-CE790B9FEF29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9680" cy="230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9680" cy="703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Bild durch Klicken auf Symbol hinzufügen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9680" cy="550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F415223-33AF-44CC-8F68-BE759EAE2862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7320" cy="34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E57C8C1-C588-424D-8650-F49808089835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342720" y="2317680"/>
            <a:ext cx="6170040" cy="574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000" cy="191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3000" cy="62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35C9C9E-6DA4-47C1-BBC1-C9B23404D628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907880" y="527400"/>
            <a:ext cx="1476720" cy="83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71600" y="527400"/>
            <a:ext cx="4348440" cy="83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9806A7B-12BC-41F7-B93D-86BDB60F6856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000" cy="191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3000" cy="62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433FC4C-F327-4E73-8D87-9CBC812CA798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68000" y="2469600"/>
            <a:ext cx="5913000" cy="411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68000" y="6629400"/>
            <a:ext cx="5913000" cy="21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5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6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7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534D701-5183-4624-859D-94C48F9F8B39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000" cy="191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2912400" cy="62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3471840" y="2637000"/>
            <a:ext cx="2912400" cy="62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A6243B7-B273-4790-AA1F-FE1D65E0FECD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72320" y="527400"/>
            <a:ext cx="5913000" cy="191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72320" y="2428200"/>
            <a:ext cx="2899080" cy="118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72320" y="3618360"/>
            <a:ext cx="2899080" cy="532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3471840" y="2428200"/>
            <a:ext cx="2913480" cy="118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3471840" y="3618360"/>
            <a:ext cx="2913480" cy="532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dt" idx="31"/>
          </p:nvPr>
        </p:nvSpPr>
        <p:spPr>
          <a:xfrm>
            <a:off x="47160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ftr" idx="32"/>
          </p:nvPr>
        </p:nvSpPr>
        <p:spPr>
          <a:xfrm>
            <a:off x="2271600" y="9181440"/>
            <a:ext cx="231228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sldNum" idx="33"/>
          </p:nvPr>
        </p:nvSpPr>
        <p:spPr>
          <a:xfrm>
            <a:off x="4843440" y="9181440"/>
            <a:ext cx="154080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79C41DB-EBF0-47AA-B0E7-A56036FDF4C4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juanaponterojas01/Digital_Twin_Battery_with_LSTM" TargetMode="External"/><Relationship Id="rId2" Type="http://schemas.openxmlformats.org/officeDocument/2006/relationships/hyperlink" Target="https://huggingface.co/spaces/juanaponterojas01/battery-soc-digital-twin" TargetMode="External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feld 3"/>
          <p:cNvSpPr/>
          <p:nvPr/>
        </p:nvSpPr>
        <p:spPr>
          <a:xfrm>
            <a:off x="2269080" y="153360"/>
            <a:ext cx="34142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28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Juan Aponte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4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 Engineer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feld 5"/>
          <p:cNvSpPr/>
          <p:nvPr/>
        </p:nvSpPr>
        <p:spPr>
          <a:xfrm>
            <a:off x="2251440" y="1010880"/>
            <a:ext cx="4188240" cy="101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Email: 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jumapontero@unal.edu.co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Phone: 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+49 1590 6402645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Address: 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Spinnertraße 35, 38114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Birthday: 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22.11.1994, Bogota - Colombia</a:t>
            </a:r>
            <a:br>
              <a:rPr sz="1200"/>
            </a:b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LinkedIn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: linkedin.com/in/juan-aponte-736a79126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Gerader Verbinder 8"/>
          <p:cNvCxnSpPr/>
          <p:nvPr/>
        </p:nvCxnSpPr>
        <p:spPr>
          <a:xfrm>
            <a:off x="355320" y="2082600"/>
            <a:ext cx="5958720" cy="216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3" name="Textfeld 11"/>
          <p:cNvSpPr/>
          <p:nvPr/>
        </p:nvSpPr>
        <p:spPr>
          <a:xfrm>
            <a:off x="374760" y="2228760"/>
            <a:ext cx="143280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Brief profile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feld 12"/>
          <p:cNvSpPr/>
          <p:nvPr/>
        </p:nvSpPr>
        <p:spPr>
          <a:xfrm>
            <a:off x="628560" y="2530800"/>
            <a:ext cx="5742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feld 13"/>
          <p:cNvSpPr/>
          <p:nvPr/>
        </p:nvSpPr>
        <p:spPr>
          <a:xfrm>
            <a:off x="2724120" y="3614760"/>
            <a:ext cx="240768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Professional experience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feld 14"/>
          <p:cNvSpPr/>
          <p:nvPr/>
        </p:nvSpPr>
        <p:spPr>
          <a:xfrm>
            <a:off x="1202040" y="3932640"/>
            <a:ext cx="5456880" cy="56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7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Independent further training in machine learning, AI agents, and self-directed project work in battery systems.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Symbol" charset="2"/>
              <a:buChar char="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Physics-informed, LSTM based digital twin for estimating the battery state of charge. Further information avaliable on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1"/>
              </a:rPr>
              <a:t>GitHub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and       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2"/>
              </a:rPr>
              <a:t>HuggingFace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 student at TLK-Thermo GmbH in the field of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modeling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and optimization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Master thesis: Optimization of a charging process for a battery system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Description of a 1D battery model with cooling taking into account free convection in Modelica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Modeling of current derating by integrating interpolation tables based on measured values of a vehicle battery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Formulation and solution of an optimal control problem with the CasADi software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Intern and working student at TLK-Thermo GmbH in the field of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programming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Further development of backend software for processing and converting data between JSON files and Python classes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Implementation of a graphical user interface for editing and saving the backend softwares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Research assistant at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test facilities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for adaptive seals in turbomachinery, TU Braunschweig (IFAS Institut)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Test setup, test execution and evaluation of experimental results with MATLAB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Gerader Verbinder 15"/>
          <p:cNvCxnSpPr/>
          <p:nvPr/>
        </p:nvCxnSpPr>
        <p:spPr>
          <a:xfrm>
            <a:off x="291960" y="126720"/>
            <a:ext cx="6009120" cy="216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8" name="CuadroTexto 111"/>
          <p:cNvSpPr/>
          <p:nvPr/>
        </p:nvSpPr>
        <p:spPr>
          <a:xfrm>
            <a:off x="3208320" y="9675000"/>
            <a:ext cx="962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Page 1 of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Grafik 21"/>
          <p:cNvPicPr/>
          <p:nvPr/>
        </p:nvPicPr>
        <p:blipFill>
          <a:blip r:embed="rId3"/>
          <a:srcRect l="17056" t="10276" r="8874" b="25739"/>
          <a:stretch/>
        </p:blipFill>
        <p:spPr>
          <a:xfrm>
            <a:off x="495360" y="213480"/>
            <a:ext cx="1559880" cy="1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feld 1"/>
          <p:cNvSpPr/>
          <p:nvPr/>
        </p:nvSpPr>
        <p:spPr>
          <a:xfrm>
            <a:off x="-44640" y="5111640"/>
            <a:ext cx="1343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04/2024 - 11/2024 Brunswick,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erader Verbinder 4"/>
          <p:cNvCxnSpPr/>
          <p:nvPr/>
        </p:nvCxnSpPr>
        <p:spPr>
          <a:xfrm flipH="1">
            <a:off x="1149120" y="3860640"/>
            <a:ext cx="20520" cy="585612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72" name="Textfeld 7"/>
          <p:cNvSpPr/>
          <p:nvPr/>
        </p:nvSpPr>
        <p:spPr>
          <a:xfrm>
            <a:off x="-36000" y="7053120"/>
            <a:ext cx="1343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10/2023 - 03/2024 Brunswick,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feld 9"/>
          <p:cNvSpPr/>
          <p:nvPr/>
        </p:nvSpPr>
        <p:spPr>
          <a:xfrm>
            <a:off x="-36000" y="8545320"/>
            <a:ext cx="1343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10/2022 - 04/2023 Brunswick, 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2840" y="3972960"/>
            <a:ext cx="115812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Since 02/2026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feld 3"/>
          <p:cNvSpPr/>
          <p:nvPr/>
        </p:nvSpPr>
        <p:spPr>
          <a:xfrm>
            <a:off x="2426040" y="188280"/>
            <a:ext cx="245196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Educational background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feld 4"/>
          <p:cNvSpPr/>
          <p:nvPr/>
        </p:nvSpPr>
        <p:spPr>
          <a:xfrm>
            <a:off x="1346040" y="540000"/>
            <a:ext cx="5509800" cy="38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PyTorch for deep learning bootcamp, ZTM Academy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Hands-on course on Deep Learning with PyTorch, including model building, training, deployment, and integration of ML solutions into real-world applications</a:t>
            </a: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. 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Master's degree in mechanical engineering with a focus on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energy and process engineering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TU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In-depth knowledge of thermodynamics, modeling of thermal systems and numerical methods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Student research project: Implementation of new backplate measurement technology for the operational behavior analysis of carbon floating ring seals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Bachelor of Mechanical Engineering, Universidad Nacional de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Bachelor thesis: Development of an incompressible flow solver for the investigation of simple turbulence phenomena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feld 5"/>
          <p:cNvSpPr/>
          <p:nvPr/>
        </p:nvSpPr>
        <p:spPr>
          <a:xfrm>
            <a:off x="2700000" y="4860000"/>
            <a:ext cx="210600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Other achievements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feld 6"/>
          <p:cNvSpPr/>
          <p:nvPr/>
        </p:nvSpPr>
        <p:spPr>
          <a:xfrm>
            <a:off x="1356120" y="5220000"/>
            <a:ext cx="55098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Cultural exchange in Germany as an au pair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feld 7"/>
          <p:cNvSpPr/>
          <p:nvPr/>
        </p:nvSpPr>
        <p:spPr>
          <a:xfrm>
            <a:off x="1346040" y="5829840"/>
            <a:ext cx="5611320" cy="82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Volunteer with the Catholic organization "Assumptionists"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Accompanying and supporting young people in disadvantaged rural areas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uadroTexto 111"/>
          <p:cNvSpPr/>
          <p:nvPr/>
        </p:nvSpPr>
        <p:spPr>
          <a:xfrm>
            <a:off x="3208320" y="9675000"/>
            <a:ext cx="962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Page 2 of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feld 9"/>
          <p:cNvSpPr/>
          <p:nvPr/>
        </p:nvSpPr>
        <p:spPr>
          <a:xfrm>
            <a:off x="2994120" y="6597360"/>
            <a:ext cx="130608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Skills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feld 10"/>
          <p:cNvSpPr/>
          <p:nvPr/>
        </p:nvSpPr>
        <p:spPr>
          <a:xfrm>
            <a:off x="324000" y="6904440"/>
            <a:ext cx="5789160" cy="13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IT skills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Python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Modelica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C++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Matlab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Inventor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MS Office</a:t>
            </a:r>
            <a:br>
              <a:rPr sz="1200"/>
            </a:br>
            <a:br>
              <a:rPr sz="1200"/>
            </a:b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OpenFOAM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Abaqus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CasADi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feld 38"/>
          <p:cNvSpPr/>
          <p:nvPr/>
        </p:nvSpPr>
        <p:spPr>
          <a:xfrm>
            <a:off x="601200" y="8413920"/>
            <a:ext cx="2130480" cy="101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Languages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Spanish: Native speaker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German: B2/C1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English: B2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feld 39"/>
          <p:cNvSpPr/>
          <p:nvPr/>
        </p:nvSpPr>
        <p:spPr>
          <a:xfrm>
            <a:off x="3510000" y="8442000"/>
            <a:ext cx="2450520" cy="101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Personal interests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Playing guitar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chess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Knitting and crocheting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llipse 40"/>
          <p:cNvSpPr/>
          <p:nvPr/>
        </p:nvSpPr>
        <p:spPr>
          <a:xfrm>
            <a:off x="1658160" y="73652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Ellipse 41"/>
          <p:cNvSpPr/>
          <p:nvPr/>
        </p:nvSpPr>
        <p:spPr>
          <a:xfrm>
            <a:off x="180396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Ellipse 42"/>
          <p:cNvSpPr/>
          <p:nvPr/>
        </p:nvSpPr>
        <p:spPr>
          <a:xfrm>
            <a:off x="194040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Ellipse 43"/>
          <p:cNvSpPr/>
          <p:nvPr/>
        </p:nvSpPr>
        <p:spPr>
          <a:xfrm>
            <a:off x="207684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Ellipse 44"/>
          <p:cNvSpPr/>
          <p:nvPr/>
        </p:nvSpPr>
        <p:spPr>
          <a:xfrm>
            <a:off x="221328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Ellipse 45"/>
          <p:cNvSpPr/>
          <p:nvPr/>
        </p:nvSpPr>
        <p:spPr>
          <a:xfrm>
            <a:off x="1663920" y="80665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Ellipse 46"/>
          <p:cNvSpPr/>
          <p:nvPr/>
        </p:nvSpPr>
        <p:spPr>
          <a:xfrm>
            <a:off x="1809360" y="80618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Ellipse 47"/>
          <p:cNvSpPr/>
          <p:nvPr/>
        </p:nvSpPr>
        <p:spPr>
          <a:xfrm>
            <a:off x="1945800" y="80618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Ellipse 48"/>
          <p:cNvSpPr/>
          <p:nvPr/>
        </p:nvSpPr>
        <p:spPr>
          <a:xfrm>
            <a:off x="2082240" y="806184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Ellipse 49"/>
          <p:cNvSpPr/>
          <p:nvPr/>
        </p:nvSpPr>
        <p:spPr>
          <a:xfrm>
            <a:off x="2218680" y="806184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Ellipse 50"/>
          <p:cNvSpPr/>
          <p:nvPr/>
        </p:nvSpPr>
        <p:spPr>
          <a:xfrm>
            <a:off x="3279600" y="80946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Ellipse 51"/>
          <p:cNvSpPr/>
          <p:nvPr/>
        </p:nvSpPr>
        <p:spPr>
          <a:xfrm>
            <a:off x="3425040" y="8089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Ellipse 52"/>
          <p:cNvSpPr/>
          <p:nvPr/>
        </p:nvSpPr>
        <p:spPr>
          <a:xfrm>
            <a:off x="3561480" y="8089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Ellipse 53"/>
          <p:cNvSpPr/>
          <p:nvPr/>
        </p:nvSpPr>
        <p:spPr>
          <a:xfrm>
            <a:off x="3697920" y="80899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Ellipse 54"/>
          <p:cNvSpPr/>
          <p:nvPr/>
        </p:nvSpPr>
        <p:spPr>
          <a:xfrm>
            <a:off x="3834360" y="80899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Ellipse 55"/>
          <p:cNvSpPr/>
          <p:nvPr/>
        </p:nvSpPr>
        <p:spPr>
          <a:xfrm>
            <a:off x="1658160" y="77076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Ellipse 56"/>
          <p:cNvSpPr/>
          <p:nvPr/>
        </p:nvSpPr>
        <p:spPr>
          <a:xfrm>
            <a:off x="180396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Ellipse 57"/>
          <p:cNvSpPr/>
          <p:nvPr/>
        </p:nvSpPr>
        <p:spPr>
          <a:xfrm>
            <a:off x="194040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Ellipse 58"/>
          <p:cNvSpPr/>
          <p:nvPr/>
        </p:nvSpPr>
        <p:spPr>
          <a:xfrm>
            <a:off x="207684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Ellipse 59"/>
          <p:cNvSpPr/>
          <p:nvPr/>
        </p:nvSpPr>
        <p:spPr>
          <a:xfrm>
            <a:off x="2213280" y="77029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Ellipse 60"/>
          <p:cNvSpPr/>
          <p:nvPr/>
        </p:nvSpPr>
        <p:spPr>
          <a:xfrm>
            <a:off x="3268080" y="773568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Ellipse 61"/>
          <p:cNvSpPr/>
          <p:nvPr/>
        </p:nvSpPr>
        <p:spPr>
          <a:xfrm>
            <a:off x="3413880" y="77310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Ellipse 62"/>
          <p:cNvSpPr/>
          <p:nvPr/>
        </p:nvSpPr>
        <p:spPr>
          <a:xfrm>
            <a:off x="3550320" y="77310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Ellipse 63"/>
          <p:cNvSpPr/>
          <p:nvPr/>
        </p:nvSpPr>
        <p:spPr>
          <a:xfrm>
            <a:off x="3686760" y="77310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Ellipse 64"/>
          <p:cNvSpPr/>
          <p:nvPr/>
        </p:nvSpPr>
        <p:spPr>
          <a:xfrm>
            <a:off x="3823200" y="773100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Ellipse 65"/>
          <p:cNvSpPr/>
          <p:nvPr/>
        </p:nvSpPr>
        <p:spPr>
          <a:xfrm>
            <a:off x="3279600" y="73652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Ellipse 66"/>
          <p:cNvSpPr/>
          <p:nvPr/>
        </p:nvSpPr>
        <p:spPr>
          <a:xfrm>
            <a:off x="342504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Ellipse 67"/>
          <p:cNvSpPr/>
          <p:nvPr/>
        </p:nvSpPr>
        <p:spPr>
          <a:xfrm>
            <a:off x="356148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Ellipse 68"/>
          <p:cNvSpPr/>
          <p:nvPr/>
        </p:nvSpPr>
        <p:spPr>
          <a:xfrm>
            <a:off x="3697920" y="7360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Ellipse 69"/>
          <p:cNvSpPr/>
          <p:nvPr/>
        </p:nvSpPr>
        <p:spPr>
          <a:xfrm>
            <a:off x="3834360" y="73609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Ellipse 70"/>
          <p:cNvSpPr/>
          <p:nvPr/>
        </p:nvSpPr>
        <p:spPr>
          <a:xfrm>
            <a:off x="5243040" y="73645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Ellipse 71"/>
          <p:cNvSpPr/>
          <p:nvPr/>
        </p:nvSpPr>
        <p:spPr>
          <a:xfrm>
            <a:off x="5388480" y="73598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Ellipse 72"/>
          <p:cNvSpPr/>
          <p:nvPr/>
        </p:nvSpPr>
        <p:spPr>
          <a:xfrm>
            <a:off x="5524920" y="73598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Ellipse 73"/>
          <p:cNvSpPr/>
          <p:nvPr/>
        </p:nvSpPr>
        <p:spPr>
          <a:xfrm>
            <a:off x="5661360" y="735984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Ellipse 74"/>
          <p:cNvSpPr/>
          <p:nvPr/>
        </p:nvSpPr>
        <p:spPr>
          <a:xfrm>
            <a:off x="5797800" y="735984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Ellipse 75"/>
          <p:cNvSpPr/>
          <p:nvPr/>
        </p:nvSpPr>
        <p:spPr>
          <a:xfrm>
            <a:off x="5243040" y="770760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Ellipse 76"/>
          <p:cNvSpPr/>
          <p:nvPr/>
        </p:nvSpPr>
        <p:spPr>
          <a:xfrm>
            <a:off x="538848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Ellipse 77"/>
          <p:cNvSpPr/>
          <p:nvPr/>
        </p:nvSpPr>
        <p:spPr>
          <a:xfrm>
            <a:off x="552492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Ellipse 78"/>
          <p:cNvSpPr/>
          <p:nvPr/>
        </p:nvSpPr>
        <p:spPr>
          <a:xfrm>
            <a:off x="5661360" y="77029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Ellipse 79"/>
          <p:cNvSpPr/>
          <p:nvPr/>
        </p:nvSpPr>
        <p:spPr>
          <a:xfrm>
            <a:off x="5797800" y="77029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Ellipse 1"/>
          <p:cNvSpPr/>
          <p:nvPr/>
        </p:nvSpPr>
        <p:spPr>
          <a:xfrm>
            <a:off x="5246280" y="806184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Ellipse 2"/>
          <p:cNvSpPr/>
          <p:nvPr/>
        </p:nvSpPr>
        <p:spPr>
          <a:xfrm>
            <a:off x="5392080" y="80575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Ellipse 11"/>
          <p:cNvSpPr/>
          <p:nvPr/>
        </p:nvSpPr>
        <p:spPr>
          <a:xfrm>
            <a:off x="5528520" y="80575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Ellipse 12"/>
          <p:cNvSpPr/>
          <p:nvPr/>
        </p:nvSpPr>
        <p:spPr>
          <a:xfrm>
            <a:off x="5664960" y="8057520"/>
            <a:ext cx="94680" cy="936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Ellipse 13"/>
          <p:cNvSpPr/>
          <p:nvPr/>
        </p:nvSpPr>
        <p:spPr>
          <a:xfrm>
            <a:off x="5801400" y="8057520"/>
            <a:ext cx="94680" cy="936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feld 14"/>
          <p:cNvSpPr/>
          <p:nvPr/>
        </p:nvSpPr>
        <p:spPr>
          <a:xfrm>
            <a:off x="720" y="540000"/>
            <a:ext cx="1343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12/2025 – 03/2026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erader Verbinder 15"/>
          <p:cNvCxnSpPr/>
          <p:nvPr/>
        </p:nvCxnSpPr>
        <p:spPr>
          <a:xfrm>
            <a:off x="1282680" y="444240"/>
            <a:ext cx="2160" cy="589500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132" name="Textfeld 16"/>
          <p:cNvSpPr/>
          <p:nvPr/>
        </p:nvSpPr>
        <p:spPr>
          <a:xfrm>
            <a:off x="720" y="1518840"/>
            <a:ext cx="1343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10/2020 - 11/2024 Brunswick, 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feld 17"/>
          <p:cNvSpPr/>
          <p:nvPr/>
        </p:nvSpPr>
        <p:spPr>
          <a:xfrm>
            <a:off x="0" y="3600000"/>
            <a:ext cx="1343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01/2013 - 07/2019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feld 18"/>
          <p:cNvSpPr/>
          <p:nvPr/>
        </p:nvSpPr>
        <p:spPr>
          <a:xfrm>
            <a:off x="720" y="5114520"/>
            <a:ext cx="1343880" cy="64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06/2019 - 06/2020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Usingen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feld 19"/>
          <p:cNvSpPr/>
          <p:nvPr/>
        </p:nvSpPr>
        <p:spPr>
          <a:xfrm>
            <a:off x="720" y="5829840"/>
            <a:ext cx="1343880" cy="64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04/2012, 2013, 2014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36</TotalTime>
  <Application>LibreOffice/25.8.6.2$Windows_X86_64 LibreOffice_project/b4b39682cd9868fa725bc664aff94278d315bd04</Application>
  <AppVersion>15.0000</AppVersion>
  <Words>553</Words>
  <Paragraphs>67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2024-10-15T15:37:39Z</dcterms:created>
  <dc:creator>juan aponte</dc:creator>
  <dc:description/>
  <cp:keywords> docId DF68F108D2C10E60747B0FA8720A450D</cp:keywords>
  <dc:language>de-DE</dc:language>
  <cp:lastModifiedBy/>
  <cp:lastPrinted>2026-05-04T21:14:21Z</cp:lastPrinted>
  <dcterms:modified xsi:type="dcterms:W3CDTF">2026-05-17T21:30:26Z</dcterms:modified>
  <cp:revision>44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A4-Papier (210 x 297 mm)</vt:lpwstr>
  </property>
  <property fmtid="{D5CDD505-2E9C-101B-9397-08002B2CF9AE}" pid="3" name="Slides">
    <vt:i4>2</vt:i4>
  </property>
</Properties>
</file>