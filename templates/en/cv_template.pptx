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6858000" cy="9906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72320" y="660240"/>
            <a:ext cx="2210040" cy="230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2915640" y="1426320"/>
            <a:ext cx="3470040" cy="703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Bild durch Klicken auf Symbol hinzufügen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72320" y="2971800"/>
            <a:ext cx="2210040" cy="550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7160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2271600" y="9181440"/>
            <a:ext cx="231264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84344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A1173FD-A535-49D6-8E3B-5D9248C2A8D0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14440" y="1621080"/>
            <a:ext cx="5827680" cy="344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45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7160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2271600" y="9181440"/>
            <a:ext cx="231264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484344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56600C4-58E8-4AB2-9716-1C5EBD32EDD3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342720" y="2317680"/>
            <a:ext cx="6170400" cy="574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3360" cy="191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5913360" cy="628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7"/>
          </p:nvPr>
        </p:nvSpPr>
        <p:spPr>
          <a:xfrm>
            <a:off x="47160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ftr" idx="8"/>
          </p:nvPr>
        </p:nvSpPr>
        <p:spPr>
          <a:xfrm>
            <a:off x="2271600" y="9181440"/>
            <a:ext cx="231264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9"/>
          </p:nvPr>
        </p:nvSpPr>
        <p:spPr>
          <a:xfrm>
            <a:off x="484344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9BC3CDA-A4F7-488A-972E-9E34376A6C11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907880" y="527400"/>
            <a:ext cx="1477080" cy="839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71600" y="527400"/>
            <a:ext cx="4348800" cy="839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7160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2271600" y="9181440"/>
            <a:ext cx="231264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484344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82038C2-ABCD-464F-BB63-7919FF755BD8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3360" cy="191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5913360" cy="628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7160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2271600" y="9181440"/>
            <a:ext cx="231264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484344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98B408C-A6FB-425C-B94A-C2CE68A50510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68000" y="2469600"/>
            <a:ext cx="5913360" cy="411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45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68000" y="6629400"/>
            <a:ext cx="5913360" cy="216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7160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2271600" y="9181440"/>
            <a:ext cx="231264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484344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981B37C-7135-46E3-BC62-710F08C65252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3360" cy="191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2912760" cy="628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3471840" y="2637000"/>
            <a:ext cx="2912760" cy="628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7160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2271600" y="9181440"/>
            <a:ext cx="231264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484344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418E993-1C7A-43C6-B9B6-5DB07121FD9C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72320" y="527400"/>
            <a:ext cx="5913360" cy="191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72320" y="2428200"/>
            <a:ext cx="2899440" cy="118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472320" y="3618360"/>
            <a:ext cx="2899440" cy="532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body"/>
          </p:nvPr>
        </p:nvSpPr>
        <p:spPr>
          <a:xfrm>
            <a:off x="3471840" y="2428200"/>
            <a:ext cx="2913840" cy="118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3471840" y="3618360"/>
            <a:ext cx="2913840" cy="532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dt" idx="22"/>
          </p:nvPr>
        </p:nvSpPr>
        <p:spPr>
          <a:xfrm>
            <a:off x="47160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 type="ftr" idx="23"/>
          </p:nvPr>
        </p:nvSpPr>
        <p:spPr>
          <a:xfrm>
            <a:off x="2271600" y="9181440"/>
            <a:ext cx="231264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8"/>
          <p:cNvSpPr>
            <a:spLocks noGrp="1"/>
          </p:cNvSpPr>
          <p:nvPr>
            <p:ph type="sldNum" idx="24"/>
          </p:nvPr>
        </p:nvSpPr>
        <p:spPr>
          <a:xfrm>
            <a:off x="484344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095D816-ECB6-45C1-80E7-F874756930EB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3360" cy="191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dt" idx="25"/>
          </p:nvPr>
        </p:nvSpPr>
        <p:spPr>
          <a:xfrm>
            <a:off x="47160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26"/>
          </p:nvPr>
        </p:nvSpPr>
        <p:spPr>
          <a:xfrm>
            <a:off x="2271600" y="9181440"/>
            <a:ext cx="231264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sldNum" idx="27"/>
          </p:nvPr>
        </p:nvSpPr>
        <p:spPr>
          <a:xfrm>
            <a:off x="484344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41E211C-A2B2-4971-B1E4-7FF142285C97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8"/>
          </p:nvPr>
        </p:nvSpPr>
        <p:spPr>
          <a:xfrm>
            <a:off x="47160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9"/>
          </p:nvPr>
        </p:nvSpPr>
        <p:spPr>
          <a:xfrm>
            <a:off x="2271600" y="9181440"/>
            <a:ext cx="231264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30"/>
          </p:nvPr>
        </p:nvSpPr>
        <p:spPr>
          <a:xfrm>
            <a:off x="484344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6241B08-87F7-400E-B172-268304A40D87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72320" y="660240"/>
            <a:ext cx="2210040" cy="230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2915640" y="1426320"/>
            <a:ext cx="3470040" cy="703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472320" y="2971800"/>
            <a:ext cx="2210040" cy="550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7160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2271600" y="9181440"/>
            <a:ext cx="231264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4843440" y="9181440"/>
            <a:ext cx="1541160" cy="5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19E7501-F317-46B5-8E8E-A724AA008CBE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juanaponterojas01/Digital_Twin_Battery_with_LSTM" TargetMode="External"/><Relationship Id="rId2" Type="http://schemas.openxmlformats.org/officeDocument/2006/relationships/hyperlink" Target="https://huggingface.co/spaces/juanaponterojas01/battery-soc-digital-twin" TargetMode="External"/><Relationship Id="rId3" Type="http://schemas.openxmlformats.org/officeDocument/2006/relationships/image" Target="../media/image1.jpeg"/><Relationship Id="rId4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feld 3"/>
          <p:cNvSpPr/>
          <p:nvPr/>
        </p:nvSpPr>
        <p:spPr>
          <a:xfrm>
            <a:off x="2269080" y="153360"/>
            <a:ext cx="341460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28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Juan Aponte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4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Simulation Engineer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feld 5"/>
          <p:cNvSpPr/>
          <p:nvPr/>
        </p:nvSpPr>
        <p:spPr>
          <a:xfrm>
            <a:off x="2251440" y="1010880"/>
            <a:ext cx="4188600" cy="101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Email: </a:t>
            </a:r>
            <a:r>
              <a:rPr lang="es-CO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jumapontero@unal.edu.co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Phone: </a:t>
            </a:r>
            <a:r>
              <a:rPr lang="es-CO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+49 1590 6402645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Address: 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Spinnertraße 35, 38114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Birthday: 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22.11.1994, Bogota - Colombia</a:t>
            </a:r>
            <a:br>
              <a:rPr sz="1200"/>
            </a:b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LinkedIn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: linkedin.com/in/juan-aponte-736a79126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" name="Gerader Verbinder 8"/>
          <p:cNvCxnSpPr/>
          <p:nvPr/>
        </p:nvCxnSpPr>
        <p:spPr>
          <a:xfrm>
            <a:off x="355320" y="2082600"/>
            <a:ext cx="5958360" cy="180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63" name="Textfeld 11"/>
          <p:cNvSpPr/>
          <p:nvPr/>
        </p:nvSpPr>
        <p:spPr>
          <a:xfrm>
            <a:off x="374760" y="2228760"/>
            <a:ext cx="143316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Brief profile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feld 12"/>
          <p:cNvSpPr/>
          <p:nvPr/>
        </p:nvSpPr>
        <p:spPr>
          <a:xfrm>
            <a:off x="736560" y="2530800"/>
            <a:ext cx="5743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[professional_summary]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feld 13"/>
          <p:cNvSpPr/>
          <p:nvPr/>
        </p:nvSpPr>
        <p:spPr>
          <a:xfrm>
            <a:off x="2724120" y="3614760"/>
            <a:ext cx="24080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Professional experience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feld 14"/>
          <p:cNvSpPr/>
          <p:nvPr/>
        </p:nvSpPr>
        <p:spPr>
          <a:xfrm>
            <a:off x="1202040" y="3932640"/>
            <a:ext cx="5457240" cy="56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7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Independent further training in machine learning, AI agents, and self-directed project work in battery systems.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457200">
              <a:lnSpc>
                <a:spcPct val="107000"/>
              </a:lnSpc>
              <a:spcAft>
                <a:spcPts val="799"/>
              </a:spcAft>
              <a:buClr>
                <a:srgbClr val="002060"/>
              </a:buClr>
              <a:buFont typeface="Symbol" charset="2"/>
              <a:buChar char=""/>
            </a:pP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Projekt: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Physics-informed, LSTM based digital twin for estimating the battery state of charge. Further information avaliable on </a:t>
            </a: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  <a:hlinkClick r:id="rId1"/>
              </a:rPr>
              <a:t>GitHub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and        </a:t>
            </a: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  <a:hlinkClick r:id="rId2"/>
              </a:rPr>
              <a:t>HuggingFace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Master student at TLK-Thermo GmbH in the field of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modeling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,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simulation 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and optimization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Master thesis: Optimization of a charging process for a battery system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Description of a 1D battery model with cooling taking into account free convection in Modelica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Modeling of current derating by integrating interpolation tables based on measured values of a vehicle battery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Formulation and solution of an optimal control problem with the CasADi software</a:t>
            </a:r>
            <a:br>
              <a:rPr sz="1200"/>
            </a:b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Intern and working student at TLK-Thermo GmbH in the field of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programming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7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Further development of backend software for processing and converting data between JSON files and Python classes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7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Implementation of a graphical user interface for editing and saving the backend softwares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7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Research assistant at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test facilities 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for adaptive seals in turbomachinery, TU Braunschweig (IFAS Institut)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7000"/>
              </a:lnSpc>
              <a:spcAft>
                <a:spcPts val="799"/>
              </a:spcAft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Test setup, test execution and evaluation of experimental results with MATLAB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" name="Gerader Verbinder 15"/>
          <p:cNvCxnSpPr/>
          <p:nvPr/>
        </p:nvCxnSpPr>
        <p:spPr>
          <a:xfrm>
            <a:off x="291960" y="126720"/>
            <a:ext cx="6008760" cy="180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68" name="CuadroTexto 111"/>
          <p:cNvSpPr/>
          <p:nvPr/>
        </p:nvSpPr>
        <p:spPr>
          <a:xfrm>
            <a:off x="3208320" y="9675000"/>
            <a:ext cx="9630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Page 1 of 2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Grafik 21"/>
          <p:cNvPicPr/>
          <p:nvPr/>
        </p:nvPicPr>
        <p:blipFill>
          <a:blip r:embed="rId3"/>
          <a:srcRect l="17058" t="10276" r="8874" b="25742"/>
          <a:stretch/>
        </p:blipFill>
        <p:spPr>
          <a:xfrm>
            <a:off x="495360" y="213480"/>
            <a:ext cx="1560240" cy="179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feld 1"/>
          <p:cNvSpPr/>
          <p:nvPr/>
        </p:nvSpPr>
        <p:spPr>
          <a:xfrm>
            <a:off x="-44640" y="5111640"/>
            <a:ext cx="13442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04/2024 - 11/2024 Brunswick,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Germany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erader Verbinder 4"/>
          <p:cNvCxnSpPr/>
          <p:nvPr/>
        </p:nvCxnSpPr>
        <p:spPr>
          <a:xfrm flipH="1">
            <a:off x="1149120" y="3860640"/>
            <a:ext cx="20160" cy="585576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72" name="Textfeld 7"/>
          <p:cNvSpPr/>
          <p:nvPr/>
        </p:nvSpPr>
        <p:spPr>
          <a:xfrm>
            <a:off x="-36000" y="7053120"/>
            <a:ext cx="13442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10/2023 - 03/2024 Brunswick,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Germany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feld 9"/>
          <p:cNvSpPr/>
          <p:nvPr/>
        </p:nvSpPr>
        <p:spPr>
          <a:xfrm>
            <a:off x="-36000" y="8545320"/>
            <a:ext cx="13442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10/2022 - 04/2023 Brunswick, Germany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2840" y="3972960"/>
            <a:ext cx="1158480" cy="4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Since 02/2026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feld 3"/>
          <p:cNvSpPr/>
          <p:nvPr/>
        </p:nvSpPr>
        <p:spPr>
          <a:xfrm>
            <a:off x="2426040" y="188280"/>
            <a:ext cx="245232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Educational background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feld 4"/>
          <p:cNvSpPr/>
          <p:nvPr/>
        </p:nvSpPr>
        <p:spPr>
          <a:xfrm>
            <a:off x="1346040" y="540000"/>
            <a:ext cx="5510160" cy="38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PyTorch for deep learning bootcamp, ZTM Academy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Hands-on course on Deep Learning with PyTorch, including model building, training, deployment, and integration of ML solutions into real-world applications</a:t>
            </a: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. 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Master's degree in mechanical engineering with a focus on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energy and process engineering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, TU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[master_subjects]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In-depth knowledge of thermodynamics, modeling of thermal systems and numerical methods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Student research project: Implementation of new backplate measurement technology for the operational behavior analysis of carbon floating ring seals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Bachelor of Mechanical Engineering, Universidad Nacional de Colombia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Bachelor thesis: Development of an incompressible flow solver for the investigation of simple turbulence phenomena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[bachelor_subjects]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feld 5"/>
          <p:cNvSpPr/>
          <p:nvPr/>
        </p:nvSpPr>
        <p:spPr>
          <a:xfrm>
            <a:off x="2700000" y="4860000"/>
            <a:ext cx="210636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Other achievements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feld 6"/>
          <p:cNvSpPr/>
          <p:nvPr/>
        </p:nvSpPr>
        <p:spPr>
          <a:xfrm>
            <a:off x="1356120" y="5220000"/>
            <a:ext cx="551016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Cultural exchange in Germany as an au pair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feld 7"/>
          <p:cNvSpPr/>
          <p:nvPr/>
        </p:nvSpPr>
        <p:spPr>
          <a:xfrm>
            <a:off x="1346040" y="5829840"/>
            <a:ext cx="5611680" cy="82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Volunteer with the Catholic organization "Assumptionists"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Accompanying and supporting young people in disadvantaged rural areas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.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CuadroTexto 111"/>
          <p:cNvSpPr/>
          <p:nvPr/>
        </p:nvSpPr>
        <p:spPr>
          <a:xfrm>
            <a:off x="3208320" y="9675000"/>
            <a:ext cx="9630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Page 2 of 2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feld 9"/>
          <p:cNvSpPr/>
          <p:nvPr/>
        </p:nvSpPr>
        <p:spPr>
          <a:xfrm>
            <a:off x="2994120" y="6597360"/>
            <a:ext cx="13064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Skills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feld 10"/>
          <p:cNvSpPr/>
          <p:nvPr/>
        </p:nvSpPr>
        <p:spPr>
          <a:xfrm>
            <a:off x="324000" y="6904440"/>
            <a:ext cx="5789520" cy="13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IT skills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Python 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      Modelica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C++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Matlab 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      Inventor 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MS Office</a:t>
            </a:r>
            <a:br>
              <a:rPr sz="1200"/>
            </a:br>
            <a:br>
              <a:rPr sz="1200"/>
            </a:b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OpenFOAM 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      Abaqus 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CasADi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feld 38"/>
          <p:cNvSpPr/>
          <p:nvPr/>
        </p:nvSpPr>
        <p:spPr>
          <a:xfrm>
            <a:off x="601200" y="8413920"/>
            <a:ext cx="2130840" cy="101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Languages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Spanish: Native speaker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German: B2/C1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English: B2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feld 39"/>
          <p:cNvSpPr/>
          <p:nvPr/>
        </p:nvSpPr>
        <p:spPr>
          <a:xfrm>
            <a:off x="3510000" y="8442000"/>
            <a:ext cx="2450880" cy="101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Personal interests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Playing guitar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chess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Knitting and crocheting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Ellipse 40"/>
          <p:cNvSpPr/>
          <p:nvPr/>
        </p:nvSpPr>
        <p:spPr>
          <a:xfrm>
            <a:off x="1658160" y="736524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Ellipse 41"/>
          <p:cNvSpPr/>
          <p:nvPr/>
        </p:nvSpPr>
        <p:spPr>
          <a:xfrm>
            <a:off x="1803960" y="7360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Ellipse 42"/>
          <p:cNvSpPr/>
          <p:nvPr/>
        </p:nvSpPr>
        <p:spPr>
          <a:xfrm>
            <a:off x="1940400" y="7360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Ellipse 43"/>
          <p:cNvSpPr/>
          <p:nvPr/>
        </p:nvSpPr>
        <p:spPr>
          <a:xfrm>
            <a:off x="2076840" y="7360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Ellipse 44"/>
          <p:cNvSpPr/>
          <p:nvPr/>
        </p:nvSpPr>
        <p:spPr>
          <a:xfrm>
            <a:off x="2213280" y="7360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Ellipse 45"/>
          <p:cNvSpPr/>
          <p:nvPr/>
        </p:nvSpPr>
        <p:spPr>
          <a:xfrm>
            <a:off x="1663920" y="80665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Ellipse 46"/>
          <p:cNvSpPr/>
          <p:nvPr/>
        </p:nvSpPr>
        <p:spPr>
          <a:xfrm>
            <a:off x="1809360" y="806184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Ellipse 47"/>
          <p:cNvSpPr/>
          <p:nvPr/>
        </p:nvSpPr>
        <p:spPr>
          <a:xfrm>
            <a:off x="1945800" y="806184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Ellipse 48"/>
          <p:cNvSpPr/>
          <p:nvPr/>
        </p:nvSpPr>
        <p:spPr>
          <a:xfrm>
            <a:off x="2082240" y="8061840"/>
            <a:ext cx="95040" cy="9396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Ellipse 49"/>
          <p:cNvSpPr/>
          <p:nvPr/>
        </p:nvSpPr>
        <p:spPr>
          <a:xfrm>
            <a:off x="2218680" y="8061840"/>
            <a:ext cx="95040" cy="9396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Ellipse 50"/>
          <p:cNvSpPr/>
          <p:nvPr/>
        </p:nvSpPr>
        <p:spPr>
          <a:xfrm>
            <a:off x="3279600" y="809460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Ellipse 51"/>
          <p:cNvSpPr/>
          <p:nvPr/>
        </p:nvSpPr>
        <p:spPr>
          <a:xfrm>
            <a:off x="3425040" y="8089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Ellipse 52"/>
          <p:cNvSpPr/>
          <p:nvPr/>
        </p:nvSpPr>
        <p:spPr>
          <a:xfrm>
            <a:off x="3561480" y="8089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Ellipse 53"/>
          <p:cNvSpPr/>
          <p:nvPr/>
        </p:nvSpPr>
        <p:spPr>
          <a:xfrm>
            <a:off x="3697920" y="8089920"/>
            <a:ext cx="95040" cy="9396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Ellipse 54"/>
          <p:cNvSpPr/>
          <p:nvPr/>
        </p:nvSpPr>
        <p:spPr>
          <a:xfrm>
            <a:off x="3834360" y="8089920"/>
            <a:ext cx="95040" cy="9396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Ellipse 55"/>
          <p:cNvSpPr/>
          <p:nvPr/>
        </p:nvSpPr>
        <p:spPr>
          <a:xfrm>
            <a:off x="1658160" y="770760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Ellipse 56"/>
          <p:cNvSpPr/>
          <p:nvPr/>
        </p:nvSpPr>
        <p:spPr>
          <a:xfrm>
            <a:off x="1803960" y="7702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Ellipse 57"/>
          <p:cNvSpPr/>
          <p:nvPr/>
        </p:nvSpPr>
        <p:spPr>
          <a:xfrm>
            <a:off x="1940400" y="7702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Ellipse 58"/>
          <p:cNvSpPr/>
          <p:nvPr/>
        </p:nvSpPr>
        <p:spPr>
          <a:xfrm>
            <a:off x="2076840" y="7702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Ellipse 59"/>
          <p:cNvSpPr/>
          <p:nvPr/>
        </p:nvSpPr>
        <p:spPr>
          <a:xfrm>
            <a:off x="2213280" y="7702920"/>
            <a:ext cx="95040" cy="9396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Ellipse 60"/>
          <p:cNvSpPr/>
          <p:nvPr/>
        </p:nvSpPr>
        <p:spPr>
          <a:xfrm>
            <a:off x="3268080" y="773568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Ellipse 61"/>
          <p:cNvSpPr/>
          <p:nvPr/>
        </p:nvSpPr>
        <p:spPr>
          <a:xfrm>
            <a:off x="3413880" y="773100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Ellipse 62"/>
          <p:cNvSpPr/>
          <p:nvPr/>
        </p:nvSpPr>
        <p:spPr>
          <a:xfrm>
            <a:off x="3550320" y="773100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Ellipse 63"/>
          <p:cNvSpPr/>
          <p:nvPr/>
        </p:nvSpPr>
        <p:spPr>
          <a:xfrm>
            <a:off x="3686760" y="773100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Ellipse 64"/>
          <p:cNvSpPr/>
          <p:nvPr/>
        </p:nvSpPr>
        <p:spPr>
          <a:xfrm>
            <a:off x="3823200" y="7731000"/>
            <a:ext cx="95040" cy="9396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Ellipse 65"/>
          <p:cNvSpPr/>
          <p:nvPr/>
        </p:nvSpPr>
        <p:spPr>
          <a:xfrm>
            <a:off x="3279600" y="736524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Ellipse 66"/>
          <p:cNvSpPr/>
          <p:nvPr/>
        </p:nvSpPr>
        <p:spPr>
          <a:xfrm>
            <a:off x="3425040" y="7360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Ellipse 67"/>
          <p:cNvSpPr/>
          <p:nvPr/>
        </p:nvSpPr>
        <p:spPr>
          <a:xfrm>
            <a:off x="3561480" y="7360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Ellipse 68"/>
          <p:cNvSpPr/>
          <p:nvPr/>
        </p:nvSpPr>
        <p:spPr>
          <a:xfrm>
            <a:off x="3697920" y="7360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Ellipse 69"/>
          <p:cNvSpPr/>
          <p:nvPr/>
        </p:nvSpPr>
        <p:spPr>
          <a:xfrm>
            <a:off x="3834360" y="7360920"/>
            <a:ext cx="95040" cy="9396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Ellipse 70"/>
          <p:cNvSpPr/>
          <p:nvPr/>
        </p:nvSpPr>
        <p:spPr>
          <a:xfrm>
            <a:off x="5243040" y="73645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Ellipse 71"/>
          <p:cNvSpPr/>
          <p:nvPr/>
        </p:nvSpPr>
        <p:spPr>
          <a:xfrm>
            <a:off x="5388480" y="735984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Ellipse 72"/>
          <p:cNvSpPr/>
          <p:nvPr/>
        </p:nvSpPr>
        <p:spPr>
          <a:xfrm>
            <a:off x="5524920" y="735984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Ellipse 73"/>
          <p:cNvSpPr/>
          <p:nvPr/>
        </p:nvSpPr>
        <p:spPr>
          <a:xfrm>
            <a:off x="5661360" y="7359840"/>
            <a:ext cx="95040" cy="9396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Ellipse 74"/>
          <p:cNvSpPr/>
          <p:nvPr/>
        </p:nvSpPr>
        <p:spPr>
          <a:xfrm>
            <a:off x="5797800" y="7359840"/>
            <a:ext cx="95040" cy="9396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Ellipse 75"/>
          <p:cNvSpPr/>
          <p:nvPr/>
        </p:nvSpPr>
        <p:spPr>
          <a:xfrm>
            <a:off x="5243040" y="770760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Ellipse 76"/>
          <p:cNvSpPr/>
          <p:nvPr/>
        </p:nvSpPr>
        <p:spPr>
          <a:xfrm>
            <a:off x="5388480" y="7702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Ellipse 77"/>
          <p:cNvSpPr/>
          <p:nvPr/>
        </p:nvSpPr>
        <p:spPr>
          <a:xfrm>
            <a:off x="5524920" y="7702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Ellipse 78"/>
          <p:cNvSpPr/>
          <p:nvPr/>
        </p:nvSpPr>
        <p:spPr>
          <a:xfrm>
            <a:off x="5661360" y="77029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Ellipse 79"/>
          <p:cNvSpPr/>
          <p:nvPr/>
        </p:nvSpPr>
        <p:spPr>
          <a:xfrm>
            <a:off x="5797800" y="7702920"/>
            <a:ext cx="95040" cy="9396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Ellipse 1"/>
          <p:cNvSpPr/>
          <p:nvPr/>
        </p:nvSpPr>
        <p:spPr>
          <a:xfrm>
            <a:off x="5246280" y="806184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Ellipse 2"/>
          <p:cNvSpPr/>
          <p:nvPr/>
        </p:nvSpPr>
        <p:spPr>
          <a:xfrm>
            <a:off x="5392080" y="80575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Ellipse 11"/>
          <p:cNvSpPr/>
          <p:nvPr/>
        </p:nvSpPr>
        <p:spPr>
          <a:xfrm>
            <a:off x="5528520" y="80575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Ellipse 12"/>
          <p:cNvSpPr/>
          <p:nvPr/>
        </p:nvSpPr>
        <p:spPr>
          <a:xfrm>
            <a:off x="5664960" y="8057520"/>
            <a:ext cx="95040" cy="9396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Ellipse 13"/>
          <p:cNvSpPr/>
          <p:nvPr/>
        </p:nvSpPr>
        <p:spPr>
          <a:xfrm>
            <a:off x="5801400" y="8057520"/>
            <a:ext cx="95040" cy="9396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feld 14"/>
          <p:cNvSpPr/>
          <p:nvPr/>
        </p:nvSpPr>
        <p:spPr>
          <a:xfrm>
            <a:off x="720" y="540000"/>
            <a:ext cx="1344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12/2025 – 03/2026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Gerader Verbinder 15"/>
          <p:cNvCxnSpPr/>
          <p:nvPr/>
        </p:nvCxnSpPr>
        <p:spPr>
          <a:xfrm>
            <a:off x="1282680" y="444240"/>
            <a:ext cx="1800" cy="589464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132" name="Textfeld 16"/>
          <p:cNvSpPr/>
          <p:nvPr/>
        </p:nvSpPr>
        <p:spPr>
          <a:xfrm>
            <a:off x="720" y="1518840"/>
            <a:ext cx="13442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10/2020 - 11/2024 Brunswick, Germany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feld 17"/>
          <p:cNvSpPr/>
          <p:nvPr/>
        </p:nvSpPr>
        <p:spPr>
          <a:xfrm>
            <a:off x="0" y="3600000"/>
            <a:ext cx="134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01/2013 - 07/2019 Colombia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feld 18"/>
          <p:cNvSpPr/>
          <p:nvPr/>
        </p:nvSpPr>
        <p:spPr>
          <a:xfrm>
            <a:off x="720" y="5114520"/>
            <a:ext cx="134424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06/2019 - 06/2020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Usingen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feld 19"/>
          <p:cNvSpPr/>
          <p:nvPr/>
        </p:nvSpPr>
        <p:spPr>
          <a:xfrm>
            <a:off x="720" y="5829840"/>
            <a:ext cx="134424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04/2012, 2013, 2014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Colombia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36</TotalTime>
  <Application>LibreOffice/25.8.5.2$Windows_X86_64 LibreOffice_project/9c8b85f387cc00a89945a79c9e6239f32e450ac2</Application>
  <AppVersion>15.0000</AppVersion>
  <Words>553</Words>
  <Paragraphs>67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2024-10-15T15:37:39Z</dcterms:created>
  <dc:creator>juan aponte</dc:creator>
  <dc:description/>
  <cp:keywords> docId DF68F108D2C10E60747B0FA8720A450D</cp:keywords>
  <dc:language>de-DE</dc:language>
  <cp:lastModifiedBy/>
  <cp:lastPrinted>2026-05-04T21:14:21Z</cp:lastPrinted>
  <dcterms:modified xsi:type="dcterms:W3CDTF">2026-05-05T21:38:21Z</dcterms:modified>
  <cp:revision>43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A4-Papier (210 x 297 mm)</vt:lpwstr>
  </property>
  <property fmtid="{D5CDD505-2E9C-101B-9397-08002B2CF9AE}" pid="3" name="Slides">
    <vt:i4>2</vt:i4>
  </property>
</Properties>
</file>