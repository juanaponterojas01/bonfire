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6858000" cy="9906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0120" cy="190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2909520" cy="628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3471840" y="2637000"/>
            <a:ext cx="2909520" cy="628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7160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2271600" y="9181440"/>
            <a:ext cx="230940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84344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26698E9-4CCC-40E5-A94C-B8BB67260F07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72320" y="527400"/>
            <a:ext cx="5910120" cy="190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72320" y="2428200"/>
            <a:ext cx="2896200" cy="118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72320" y="3618360"/>
            <a:ext cx="2896200" cy="531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3471840" y="2428200"/>
            <a:ext cx="2910600" cy="118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3471840" y="3618360"/>
            <a:ext cx="2910600" cy="531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7160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2271600" y="9181440"/>
            <a:ext cx="230940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484344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A9E473F-8368-4415-A160-48054DEC582B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0120" cy="190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7160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2271600" y="9181440"/>
            <a:ext cx="230940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484344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2DFBC8E-7C08-4D5A-98CF-8EAD8BB693F2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7160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2271600" y="9181440"/>
            <a:ext cx="230940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484344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3CEECCA-C776-47F8-8304-FB9D72CEC527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72320" y="660240"/>
            <a:ext cx="2206800" cy="230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2915640" y="1426320"/>
            <a:ext cx="3466800" cy="703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72320" y="2971800"/>
            <a:ext cx="2206800" cy="550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47160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2271600" y="9181440"/>
            <a:ext cx="230940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484344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B91829D-47BC-4594-8853-1FE0399E2EF9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72320" y="660240"/>
            <a:ext cx="2206800" cy="230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915640" y="1426320"/>
            <a:ext cx="3466800" cy="703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Bild durch Klicken auf Symbol hinzufügen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72320" y="2971800"/>
            <a:ext cx="2206800" cy="550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7160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2271600" y="9181440"/>
            <a:ext cx="230940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484344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A2D6E97-2B3C-4A9D-A1D6-0A6E02719867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14440" y="1621080"/>
            <a:ext cx="5824440" cy="344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47160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2271600" y="9181440"/>
            <a:ext cx="230940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484344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611A401-F5EB-46BF-9D09-431DD90934EA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342720" y="2317680"/>
            <a:ext cx="6167160" cy="574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0120" cy="190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5910120" cy="628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2"/>
          </p:nvPr>
        </p:nvSpPr>
        <p:spPr>
          <a:xfrm>
            <a:off x="47160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3"/>
          </p:nvPr>
        </p:nvSpPr>
        <p:spPr>
          <a:xfrm>
            <a:off x="2271600" y="9181440"/>
            <a:ext cx="230940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4"/>
          </p:nvPr>
        </p:nvSpPr>
        <p:spPr>
          <a:xfrm>
            <a:off x="484344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7CED88C-BD9E-436E-A472-697681CF71EC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907880" y="527400"/>
            <a:ext cx="1473840" cy="838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71600" y="527400"/>
            <a:ext cx="4345560" cy="838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5"/>
          </p:nvPr>
        </p:nvSpPr>
        <p:spPr>
          <a:xfrm>
            <a:off x="47160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6"/>
          </p:nvPr>
        </p:nvSpPr>
        <p:spPr>
          <a:xfrm>
            <a:off x="2271600" y="9181440"/>
            <a:ext cx="230940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27"/>
          </p:nvPr>
        </p:nvSpPr>
        <p:spPr>
          <a:xfrm>
            <a:off x="484344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C9F8442-03BA-431D-A90A-74099F4C5C84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0120" cy="190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5910120" cy="628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8"/>
          </p:nvPr>
        </p:nvSpPr>
        <p:spPr>
          <a:xfrm>
            <a:off x="47160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9"/>
          </p:nvPr>
        </p:nvSpPr>
        <p:spPr>
          <a:xfrm>
            <a:off x="2271600" y="9181440"/>
            <a:ext cx="230940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30"/>
          </p:nvPr>
        </p:nvSpPr>
        <p:spPr>
          <a:xfrm>
            <a:off x="484344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234B2BC-C731-4016-9DBD-727E0F313CCC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68000" y="2469600"/>
            <a:ext cx="5910120" cy="411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68000" y="6629400"/>
            <a:ext cx="5910120" cy="21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47160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2271600" y="9181440"/>
            <a:ext cx="230940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4843440" y="9181440"/>
            <a:ext cx="1537920" cy="52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C71273B-DE2A-4BF5-8393-EA4F2C7C2099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github.com/juanaponterojas01/Digital_Twin_Battery_with_LSTM" TargetMode="External"/><Relationship Id="rId2" Type="http://schemas.openxmlformats.org/officeDocument/2006/relationships/hyperlink" Target="https://huggingface.co/spaces/juanaponterojas01/battery-soc-digital-twin" TargetMode="External"/><Relationship Id="rId3" Type="http://schemas.openxmlformats.org/officeDocument/2006/relationships/image" Target="../media/image1.jpeg"/><Relationship Id="rId4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feld 3"/>
          <p:cNvSpPr/>
          <p:nvPr/>
        </p:nvSpPr>
        <p:spPr>
          <a:xfrm>
            <a:off x="2269080" y="153360"/>
            <a:ext cx="34113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CO" sz="28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Juan Aponte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CO" sz="14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Entwicklungsingenieur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feld 5"/>
          <p:cNvSpPr/>
          <p:nvPr/>
        </p:nvSpPr>
        <p:spPr>
          <a:xfrm>
            <a:off x="2251440" y="1010880"/>
            <a:ext cx="41853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CO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Email:</a:t>
            </a:r>
            <a:r>
              <a:rPr lang="es-CO" sz="12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 </a:t>
            </a:r>
            <a:r>
              <a:rPr lang="es-CO" sz="12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ahoma"/>
                <a:ea typeface="Tahoma"/>
              </a:rPr>
              <a:t>juanaponterojas01@gmail.com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CO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Tel: </a:t>
            </a:r>
            <a:r>
              <a:rPr lang="es-CO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ahoma"/>
                <a:ea typeface="Tahoma"/>
              </a:rPr>
              <a:t>+49 1590 6402645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Anschrift: </a:t>
            </a: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de-DE" sz="12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ahoma"/>
                <a:ea typeface="Tahoma"/>
              </a:rPr>
              <a:t>Spinnertraße 35, 38114 Braunschweig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Geburtstag: </a:t>
            </a: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de-DE" sz="12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ahoma"/>
                <a:ea typeface="Tahoma"/>
              </a:rPr>
              <a:t>22.11.1994, Bogota – Kolumbien</a:t>
            </a:r>
            <a:br>
              <a:rPr sz="1200"/>
            </a:b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LinkedIn</a:t>
            </a:r>
            <a:r>
              <a:rPr lang="de-DE" sz="12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ahoma"/>
                <a:ea typeface="Tahoma"/>
              </a:rPr>
              <a:t>:</a:t>
            </a:r>
            <a:r>
              <a:rPr lang="de-DE" sz="12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linkedin.com/in/juan-aponte-736a79126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" name="Gerader Verbinder 8"/>
          <p:cNvCxnSpPr/>
          <p:nvPr/>
        </p:nvCxnSpPr>
        <p:spPr>
          <a:xfrm>
            <a:off x="355320" y="2082600"/>
            <a:ext cx="5961600" cy="5040"/>
          </a:xfrm>
          <a:prstGeom prst="straightConnector1">
            <a:avLst/>
          </a:prstGeom>
          <a:ln w="0">
            <a:solidFill>
              <a:srgbClr val="002060"/>
            </a:solidFill>
          </a:ln>
        </p:spPr>
      </p:cxnSp>
      <p:sp>
        <p:nvSpPr>
          <p:cNvPr id="63" name="Textfeld 11"/>
          <p:cNvSpPr/>
          <p:nvPr/>
        </p:nvSpPr>
        <p:spPr>
          <a:xfrm>
            <a:off x="401400" y="2165040"/>
            <a:ext cx="1137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CO" sz="14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Kurzprofil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feld 12"/>
          <p:cNvSpPr/>
          <p:nvPr/>
        </p:nvSpPr>
        <p:spPr>
          <a:xfrm>
            <a:off x="540000" y="2457000"/>
            <a:ext cx="593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[professional_summary]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feld 13"/>
          <p:cNvSpPr/>
          <p:nvPr/>
        </p:nvSpPr>
        <p:spPr>
          <a:xfrm>
            <a:off x="2895480" y="3520440"/>
            <a:ext cx="1671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CO" sz="14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Berufserfahrung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feld 14"/>
          <p:cNvSpPr/>
          <p:nvPr/>
        </p:nvSpPr>
        <p:spPr>
          <a:xfrm>
            <a:off x="1285200" y="3860640"/>
            <a:ext cx="5326200" cy="59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7000"/>
              </a:lnSpc>
              <a:spcAft>
                <a:spcPts val="799"/>
              </a:spcAft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Selbstständige Weiterbildung in Machine Learning, KI-Agenten und eigenständige Projektarbeit in Batteriesystemen.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457200">
              <a:lnSpc>
                <a:spcPct val="107000"/>
              </a:lnSpc>
              <a:spcAft>
                <a:spcPts val="799"/>
              </a:spcAft>
              <a:buClr>
                <a:srgbClr val="002060"/>
              </a:buClr>
              <a:buFont typeface="Symbol" charset="2"/>
              <a:buChar char=""/>
            </a:pPr>
            <a:r>
              <a:rPr lang="de-DE" sz="1200" b="0" u="sng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Projekt: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 Physikinformierter, LSTM-basierter digitaler Zwilling zur Schätzung des Batterieladezustands. Weitere Informationen auf </a:t>
            </a:r>
            <a:r>
              <a:rPr lang="de-DE" sz="1200" b="0" u="sng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  <a:hlinkClick r:id="rId1"/>
              </a:rPr>
              <a:t>GitHub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 und </a:t>
            </a:r>
            <a:r>
              <a:rPr lang="de-DE" sz="1200" b="0" u="sng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  <a:hlinkClick r:id="rId2"/>
              </a:rPr>
              <a:t>HuggingFace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 zu finden.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7000"/>
              </a:lnSpc>
              <a:spcAft>
                <a:spcPts val="799"/>
              </a:spcAft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Masterand bei TLK-Thermo GmbH im Bereich </a:t>
            </a:r>
            <a:r>
              <a:rPr lang="de-DE" sz="12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Modellierung</a:t>
            </a: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, </a:t>
            </a:r>
            <a:r>
              <a:rPr lang="de-DE" sz="12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Simulation</a:t>
            </a: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 und </a:t>
            </a:r>
            <a:r>
              <a:rPr lang="de-DE" sz="12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Optimierung</a:t>
            </a: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de-DE" sz="1200" b="0" u="sng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Projekt: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 Optimierung eines Ladevorgangs für ein Batteriesystem.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Beschreibung eines 1D-Batteriemodells mit Kühlung unter Berücksichtigung der freien Konvektion in Modelica.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Modellierung des Strom-Deratings durch die Einbindung von Interpolationstabellen basierend auf Messwerten einer Fahrzeugbatterie.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Formulierung und Lösung eines Optimalsteuerungsproblems mit der Software CasADi.</a:t>
            </a:r>
            <a:br>
              <a:rPr sz="1200"/>
            </a:b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7000"/>
              </a:lnSpc>
              <a:spcAft>
                <a:spcPts val="799"/>
              </a:spcAft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Praktikant und Werkstudent bei TLK-Thermo GmbH im Bereich </a:t>
            </a:r>
            <a:r>
              <a:rPr lang="de-DE" sz="12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Programmierung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457200">
              <a:lnSpc>
                <a:spcPct val="107000"/>
              </a:lnSpc>
              <a:buClr>
                <a:srgbClr val="00206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Weiterentwicklung einer Backend-Software zur Bearbeitung und Konvertierung von Daten zwischen JSON-Dateien und Python-Klassen.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457200">
              <a:lnSpc>
                <a:spcPct val="107000"/>
              </a:lnSpc>
              <a:buClr>
                <a:srgbClr val="00206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Implementierung einer grafischen Benutzeroberfläche zur Bearbeitung und Speicherung der Backend-Software.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7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7000"/>
              </a:lnSpc>
              <a:spcAft>
                <a:spcPts val="799"/>
              </a:spcAft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Wissenschaftliche Hilfskraft an </a:t>
            </a:r>
            <a:r>
              <a:rPr lang="de-DE" sz="12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Versuchsanlagen</a:t>
            </a: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 zu adaptiven Dichtungen in Turbomaschinen, TU Braunschweig (IFAS Institut)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457200">
              <a:lnSpc>
                <a:spcPct val="107000"/>
              </a:lnSpc>
              <a:spcAft>
                <a:spcPts val="799"/>
              </a:spcAft>
              <a:buClr>
                <a:srgbClr val="00206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Versuchsaufbau, Versuchsdurchführung und Auswertung experimenteller Ergebnisse mit MATLAB.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Gerader Verbinder 15"/>
          <p:cNvCxnSpPr/>
          <p:nvPr/>
        </p:nvCxnSpPr>
        <p:spPr>
          <a:xfrm>
            <a:off x="291960" y="126720"/>
            <a:ext cx="6012000" cy="5040"/>
          </a:xfrm>
          <a:prstGeom prst="straightConnector1">
            <a:avLst/>
          </a:prstGeom>
          <a:ln w="0">
            <a:solidFill>
              <a:srgbClr val="002060"/>
            </a:solidFill>
          </a:ln>
        </p:spPr>
      </p:cxnSp>
      <p:sp>
        <p:nvSpPr>
          <p:cNvPr id="68" name="CuadroTexto 111"/>
          <p:cNvSpPr/>
          <p:nvPr/>
        </p:nvSpPr>
        <p:spPr>
          <a:xfrm>
            <a:off x="3208320" y="9675000"/>
            <a:ext cx="95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Seite 1 von 2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Grafik 21"/>
          <p:cNvPicPr/>
          <p:nvPr/>
        </p:nvPicPr>
        <p:blipFill>
          <a:blip r:embed="rId3"/>
          <a:srcRect l="17036" t="10276" r="8874" b="25709"/>
          <a:stretch/>
        </p:blipFill>
        <p:spPr>
          <a:xfrm>
            <a:off x="495360" y="213480"/>
            <a:ext cx="1557000" cy="179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feld 1"/>
          <p:cNvSpPr/>
          <p:nvPr/>
        </p:nvSpPr>
        <p:spPr>
          <a:xfrm>
            <a:off x="0" y="5254200"/>
            <a:ext cx="134100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04/2024 – 11/2024 Braunschweig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Gerader Verbinder 4"/>
          <p:cNvCxnSpPr/>
          <p:nvPr/>
        </p:nvCxnSpPr>
        <p:spPr>
          <a:xfrm>
            <a:off x="1281240" y="3974760"/>
            <a:ext cx="6480" cy="5656680"/>
          </a:xfrm>
          <a:prstGeom prst="straightConnector1">
            <a:avLst/>
          </a:prstGeom>
          <a:ln w="0">
            <a:solidFill>
              <a:srgbClr val="002060"/>
            </a:solidFill>
          </a:ln>
        </p:spPr>
      </p:cxnSp>
      <p:sp>
        <p:nvSpPr>
          <p:cNvPr id="72" name="Textfeld 7"/>
          <p:cNvSpPr/>
          <p:nvPr/>
        </p:nvSpPr>
        <p:spPr>
          <a:xfrm>
            <a:off x="0" y="7233120"/>
            <a:ext cx="134100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10/2023 – 03/2024 Braunschweig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feld 9"/>
          <p:cNvSpPr/>
          <p:nvPr/>
        </p:nvSpPr>
        <p:spPr>
          <a:xfrm>
            <a:off x="0" y="8687520"/>
            <a:ext cx="1341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10/2022 – 04/2023 Braunschweig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feld 2"/>
          <p:cNvSpPr/>
          <p:nvPr/>
        </p:nvSpPr>
        <p:spPr>
          <a:xfrm>
            <a:off x="2520" y="3897000"/>
            <a:ext cx="1341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Seit 02/2026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feld 3"/>
          <p:cNvSpPr/>
          <p:nvPr/>
        </p:nvSpPr>
        <p:spPr>
          <a:xfrm>
            <a:off x="3149640" y="88920"/>
            <a:ext cx="1348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CO" sz="14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Bildungsweg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feld 4"/>
          <p:cNvSpPr/>
          <p:nvPr/>
        </p:nvSpPr>
        <p:spPr>
          <a:xfrm>
            <a:off x="1346040" y="445680"/>
            <a:ext cx="5310000" cy="36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PyTorch for Deep Learning Bootcamp, ZTM Academy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206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Ein praxisorientierter Kurs zu Deep Learning mit PyTorch, einschließlich Modellaufbau, Training und Durchführung in reale Anwendungen.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Master in Maschinenbau mit Vertiefungspunkt </a:t>
            </a:r>
            <a:r>
              <a:rPr lang="de-DE" sz="12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Energie- und Verfahrenstechnik</a:t>
            </a: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, TU Braunschweig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[master_subjects]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Vertiefte Kenntnisse in der Berechnung und Auslegung verschiedener Systeme wie Kolbenmaschinen, hydraulischer Strömungsmaschinen und Windenergieanlagen.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de-DE" sz="1200" b="0" u="sng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Studienarbeit: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 Implementierung neuer Rückplattenmesstechnik zur Betriebsverhaltensanalyse von Kohlenschwimmringdichtungen.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Bachelor Maschinenbau, Universidad Nacional de Colombia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de-DE" sz="1200" b="0" u="sng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Bachelorarbeit: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 Entwicklung eines inkompressiblen Strömungslösers zur Untersuchung einfacher Turbulenzphänomene.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[bachelor_subjects]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feld 5"/>
          <p:cNvSpPr/>
          <p:nvPr/>
        </p:nvSpPr>
        <p:spPr>
          <a:xfrm>
            <a:off x="2768760" y="4718160"/>
            <a:ext cx="2103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CO" sz="14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Sonstige Leistungen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feld 6"/>
          <p:cNvSpPr/>
          <p:nvPr/>
        </p:nvSpPr>
        <p:spPr>
          <a:xfrm>
            <a:off x="1346040" y="5037840"/>
            <a:ext cx="5506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Kultureller Austausch in Deutschland als Au-Pair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feld 7"/>
          <p:cNvSpPr/>
          <p:nvPr/>
        </p:nvSpPr>
        <p:spPr>
          <a:xfrm>
            <a:off x="1346040" y="5676840"/>
            <a:ext cx="560844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Volontär bei der katholischen Organisation  „Assumptionisten“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Begleitung und Unterstützung von Jugendlichen in benachteiligten ländlichen Gebieten.</a:t>
            </a: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CuadroTexto 111"/>
          <p:cNvSpPr/>
          <p:nvPr/>
        </p:nvSpPr>
        <p:spPr>
          <a:xfrm>
            <a:off x="3208320" y="9675000"/>
            <a:ext cx="95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Seite 2 von 2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feld 9"/>
          <p:cNvSpPr/>
          <p:nvPr/>
        </p:nvSpPr>
        <p:spPr>
          <a:xfrm>
            <a:off x="3174840" y="6566040"/>
            <a:ext cx="1303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CO" sz="14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Fähigkeiten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feld 10"/>
          <p:cNvSpPr/>
          <p:nvPr/>
        </p:nvSpPr>
        <p:spPr>
          <a:xfrm>
            <a:off x="657360" y="6971040"/>
            <a:ext cx="5786280" cy="13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CO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EDV Kenntnisse</a:t>
            </a:r>
            <a:br>
              <a:rPr sz="1200"/>
            </a:b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Python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Modelica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C++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Matlab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Inventor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MS Office</a:t>
            </a:r>
            <a:br>
              <a:rPr sz="1200"/>
            </a:br>
            <a:br>
              <a:rPr sz="1200"/>
            </a:b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OpenFOAM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Abaqus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CasADi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feld 38"/>
          <p:cNvSpPr/>
          <p:nvPr/>
        </p:nvSpPr>
        <p:spPr>
          <a:xfrm>
            <a:off x="601200" y="8528400"/>
            <a:ext cx="21276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CO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Sprachen</a:t>
            </a:r>
            <a:br>
              <a:rPr sz="1200"/>
            </a:b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Spanisch: Muttersprachler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Deutsch: C1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Englisch: B2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feld 39"/>
          <p:cNvSpPr/>
          <p:nvPr/>
        </p:nvSpPr>
        <p:spPr>
          <a:xfrm>
            <a:off x="3491280" y="8546760"/>
            <a:ext cx="2447640" cy="101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CO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Persönliche Interessen</a:t>
            </a:r>
            <a:br>
              <a:rPr sz="1200"/>
            </a:b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Gitarre Spielen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Schach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s-CO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Stricken und Häckeln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Ellipse 40"/>
          <p:cNvSpPr/>
          <p:nvPr/>
        </p:nvSpPr>
        <p:spPr>
          <a:xfrm>
            <a:off x="1658160" y="745092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Ellipse 41"/>
          <p:cNvSpPr/>
          <p:nvPr/>
        </p:nvSpPr>
        <p:spPr>
          <a:xfrm>
            <a:off x="1803960" y="74466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Ellipse 42"/>
          <p:cNvSpPr/>
          <p:nvPr/>
        </p:nvSpPr>
        <p:spPr>
          <a:xfrm>
            <a:off x="1940400" y="74466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Ellipse 43"/>
          <p:cNvSpPr/>
          <p:nvPr/>
        </p:nvSpPr>
        <p:spPr>
          <a:xfrm>
            <a:off x="2076840" y="74466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Ellipse 44"/>
          <p:cNvSpPr/>
          <p:nvPr/>
        </p:nvSpPr>
        <p:spPr>
          <a:xfrm>
            <a:off x="2213280" y="74466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Ellipse 45"/>
          <p:cNvSpPr/>
          <p:nvPr/>
        </p:nvSpPr>
        <p:spPr>
          <a:xfrm>
            <a:off x="1663920" y="81522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Ellipse 46"/>
          <p:cNvSpPr/>
          <p:nvPr/>
        </p:nvSpPr>
        <p:spPr>
          <a:xfrm>
            <a:off x="1809360" y="814788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Ellipse 47"/>
          <p:cNvSpPr/>
          <p:nvPr/>
        </p:nvSpPr>
        <p:spPr>
          <a:xfrm>
            <a:off x="1945800" y="814788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Ellipse 48"/>
          <p:cNvSpPr/>
          <p:nvPr/>
        </p:nvSpPr>
        <p:spPr>
          <a:xfrm>
            <a:off x="2082240" y="8147880"/>
            <a:ext cx="91800" cy="9072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Ellipse 49"/>
          <p:cNvSpPr/>
          <p:nvPr/>
        </p:nvSpPr>
        <p:spPr>
          <a:xfrm>
            <a:off x="2218680" y="8147880"/>
            <a:ext cx="91800" cy="9072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Ellipse 50"/>
          <p:cNvSpPr/>
          <p:nvPr/>
        </p:nvSpPr>
        <p:spPr>
          <a:xfrm>
            <a:off x="3279600" y="818028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Ellipse 51"/>
          <p:cNvSpPr/>
          <p:nvPr/>
        </p:nvSpPr>
        <p:spPr>
          <a:xfrm>
            <a:off x="3425040" y="81756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Ellipse 52"/>
          <p:cNvSpPr/>
          <p:nvPr/>
        </p:nvSpPr>
        <p:spPr>
          <a:xfrm>
            <a:off x="3561480" y="81756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Ellipse 53"/>
          <p:cNvSpPr/>
          <p:nvPr/>
        </p:nvSpPr>
        <p:spPr>
          <a:xfrm>
            <a:off x="3697920" y="8175600"/>
            <a:ext cx="91800" cy="9072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Ellipse 54"/>
          <p:cNvSpPr/>
          <p:nvPr/>
        </p:nvSpPr>
        <p:spPr>
          <a:xfrm>
            <a:off x="3834360" y="8175600"/>
            <a:ext cx="91800" cy="9072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Ellipse 55"/>
          <p:cNvSpPr/>
          <p:nvPr/>
        </p:nvSpPr>
        <p:spPr>
          <a:xfrm>
            <a:off x="1658160" y="779328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Ellipse 56"/>
          <p:cNvSpPr/>
          <p:nvPr/>
        </p:nvSpPr>
        <p:spPr>
          <a:xfrm>
            <a:off x="1803960" y="77886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Ellipse 57"/>
          <p:cNvSpPr/>
          <p:nvPr/>
        </p:nvSpPr>
        <p:spPr>
          <a:xfrm>
            <a:off x="1940400" y="77886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Ellipse 58"/>
          <p:cNvSpPr/>
          <p:nvPr/>
        </p:nvSpPr>
        <p:spPr>
          <a:xfrm>
            <a:off x="2076840" y="77886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Ellipse 59"/>
          <p:cNvSpPr/>
          <p:nvPr/>
        </p:nvSpPr>
        <p:spPr>
          <a:xfrm>
            <a:off x="2213280" y="7788600"/>
            <a:ext cx="91800" cy="9072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Ellipse 60"/>
          <p:cNvSpPr/>
          <p:nvPr/>
        </p:nvSpPr>
        <p:spPr>
          <a:xfrm>
            <a:off x="3268080" y="782136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Ellipse 61"/>
          <p:cNvSpPr/>
          <p:nvPr/>
        </p:nvSpPr>
        <p:spPr>
          <a:xfrm>
            <a:off x="3413880" y="781668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Ellipse 62"/>
          <p:cNvSpPr/>
          <p:nvPr/>
        </p:nvSpPr>
        <p:spPr>
          <a:xfrm>
            <a:off x="3550320" y="781668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Ellipse 63"/>
          <p:cNvSpPr/>
          <p:nvPr/>
        </p:nvSpPr>
        <p:spPr>
          <a:xfrm>
            <a:off x="3686760" y="781668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Ellipse 64"/>
          <p:cNvSpPr/>
          <p:nvPr/>
        </p:nvSpPr>
        <p:spPr>
          <a:xfrm>
            <a:off x="3823200" y="7816680"/>
            <a:ext cx="91800" cy="9072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Ellipse 65"/>
          <p:cNvSpPr/>
          <p:nvPr/>
        </p:nvSpPr>
        <p:spPr>
          <a:xfrm>
            <a:off x="3279600" y="745092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Ellipse 66"/>
          <p:cNvSpPr/>
          <p:nvPr/>
        </p:nvSpPr>
        <p:spPr>
          <a:xfrm>
            <a:off x="3425040" y="74466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Ellipse 67"/>
          <p:cNvSpPr/>
          <p:nvPr/>
        </p:nvSpPr>
        <p:spPr>
          <a:xfrm>
            <a:off x="3561480" y="74466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Ellipse 68"/>
          <p:cNvSpPr/>
          <p:nvPr/>
        </p:nvSpPr>
        <p:spPr>
          <a:xfrm>
            <a:off x="3697920" y="74466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Ellipse 69"/>
          <p:cNvSpPr/>
          <p:nvPr/>
        </p:nvSpPr>
        <p:spPr>
          <a:xfrm>
            <a:off x="3834360" y="7446600"/>
            <a:ext cx="91800" cy="9072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Ellipse 70"/>
          <p:cNvSpPr/>
          <p:nvPr/>
        </p:nvSpPr>
        <p:spPr>
          <a:xfrm>
            <a:off x="5243040" y="74502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Ellipse 71"/>
          <p:cNvSpPr/>
          <p:nvPr/>
        </p:nvSpPr>
        <p:spPr>
          <a:xfrm>
            <a:off x="5388480" y="744552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Ellipse 72"/>
          <p:cNvSpPr/>
          <p:nvPr/>
        </p:nvSpPr>
        <p:spPr>
          <a:xfrm>
            <a:off x="5524920" y="744552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Ellipse 73"/>
          <p:cNvSpPr/>
          <p:nvPr/>
        </p:nvSpPr>
        <p:spPr>
          <a:xfrm>
            <a:off x="5661360" y="7445520"/>
            <a:ext cx="91800" cy="9072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Ellipse 74"/>
          <p:cNvSpPr/>
          <p:nvPr/>
        </p:nvSpPr>
        <p:spPr>
          <a:xfrm>
            <a:off x="5797800" y="7445520"/>
            <a:ext cx="91800" cy="9072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Ellipse 75"/>
          <p:cNvSpPr/>
          <p:nvPr/>
        </p:nvSpPr>
        <p:spPr>
          <a:xfrm>
            <a:off x="5243040" y="779328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Ellipse 76"/>
          <p:cNvSpPr/>
          <p:nvPr/>
        </p:nvSpPr>
        <p:spPr>
          <a:xfrm>
            <a:off x="5388480" y="77886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Ellipse 77"/>
          <p:cNvSpPr/>
          <p:nvPr/>
        </p:nvSpPr>
        <p:spPr>
          <a:xfrm>
            <a:off x="5524920" y="77886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Ellipse 78"/>
          <p:cNvSpPr/>
          <p:nvPr/>
        </p:nvSpPr>
        <p:spPr>
          <a:xfrm>
            <a:off x="5661360" y="77886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Ellipse 79"/>
          <p:cNvSpPr/>
          <p:nvPr/>
        </p:nvSpPr>
        <p:spPr>
          <a:xfrm>
            <a:off x="5797800" y="7788600"/>
            <a:ext cx="91800" cy="9072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Ellipse 1"/>
          <p:cNvSpPr/>
          <p:nvPr/>
        </p:nvSpPr>
        <p:spPr>
          <a:xfrm>
            <a:off x="5246280" y="814752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Ellipse 2"/>
          <p:cNvSpPr/>
          <p:nvPr/>
        </p:nvSpPr>
        <p:spPr>
          <a:xfrm>
            <a:off x="5392080" y="81432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Ellipse 11"/>
          <p:cNvSpPr/>
          <p:nvPr/>
        </p:nvSpPr>
        <p:spPr>
          <a:xfrm>
            <a:off x="5528520" y="81432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Ellipse 12"/>
          <p:cNvSpPr/>
          <p:nvPr/>
        </p:nvSpPr>
        <p:spPr>
          <a:xfrm>
            <a:off x="5664960" y="8143200"/>
            <a:ext cx="91800" cy="9072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Ellipse 13"/>
          <p:cNvSpPr/>
          <p:nvPr/>
        </p:nvSpPr>
        <p:spPr>
          <a:xfrm>
            <a:off x="5801400" y="8143200"/>
            <a:ext cx="91800" cy="9072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feld 14"/>
          <p:cNvSpPr/>
          <p:nvPr/>
        </p:nvSpPr>
        <p:spPr>
          <a:xfrm>
            <a:off x="0" y="1242720"/>
            <a:ext cx="134100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10/2020 – 11/2024 Braunschweig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Gerader Verbinder 15"/>
          <p:cNvCxnSpPr/>
          <p:nvPr/>
        </p:nvCxnSpPr>
        <p:spPr>
          <a:xfrm>
            <a:off x="1282680" y="444240"/>
            <a:ext cx="5040" cy="5897880"/>
          </a:xfrm>
          <a:prstGeom prst="straightConnector1">
            <a:avLst/>
          </a:prstGeom>
          <a:ln w="0">
            <a:solidFill>
              <a:srgbClr val="002060"/>
            </a:solidFill>
          </a:ln>
        </p:spPr>
      </p:cxnSp>
      <p:sp>
        <p:nvSpPr>
          <p:cNvPr id="132" name="Textfeld 16"/>
          <p:cNvSpPr/>
          <p:nvPr/>
        </p:nvSpPr>
        <p:spPr>
          <a:xfrm>
            <a:off x="0" y="3353040"/>
            <a:ext cx="134100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01/2013 – 07/2019 Kolumbien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feld 18"/>
          <p:cNvSpPr/>
          <p:nvPr/>
        </p:nvSpPr>
        <p:spPr>
          <a:xfrm>
            <a:off x="0" y="4940280"/>
            <a:ext cx="134100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06/2019 – 06/2020  Usingen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feld 19"/>
          <p:cNvSpPr/>
          <p:nvPr/>
        </p:nvSpPr>
        <p:spPr>
          <a:xfrm>
            <a:off x="0" y="5664240"/>
            <a:ext cx="134100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04/2012, 2013, 2014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Kolumbien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feld 8"/>
          <p:cNvSpPr/>
          <p:nvPr/>
        </p:nvSpPr>
        <p:spPr>
          <a:xfrm>
            <a:off x="360" y="444960"/>
            <a:ext cx="1341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 12/2025 - 03/2026 Online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</TotalTime>
  <Application>LibreOffice/25.8.5.2$Windows_X86_64 LibreOffice_project/9c8b85f387cc00a89945a79c9e6239f32e450ac2</Application>
  <AppVersion>15.0000</AppVersion>
  <Words>474</Words>
  <Paragraphs>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2024-10-15T15:37:39Z</dcterms:created>
  <dc:creator>juan aponte</dc:creator>
  <dc:description/>
  <dc:language>de-DE</dc:language>
  <cp:lastModifiedBy/>
  <dcterms:modified xsi:type="dcterms:W3CDTF">2026-05-05T15:23:17Z</dcterms:modified>
  <cp:revision>55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A4-Papier (210 x 297 mm)</vt:lpwstr>
  </property>
  <property fmtid="{D5CDD505-2E9C-101B-9397-08002B2CF9AE}" pid="3" name="Slides">
    <vt:i4>2</vt:i4>
  </property>
</Properties>
</file>