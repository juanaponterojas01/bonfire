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6858000" cy="9906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06080" cy="23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66080" cy="703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Bild durch Klicken auf Symbol hinzufügen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06080" cy="549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4449EF-2760-4839-8041-9EBE4162FF4B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3720" cy="344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53FE635-40C5-4071-A78D-9340D38B55DD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342720" y="2317680"/>
            <a:ext cx="6166440" cy="573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09400" cy="190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09400" cy="627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7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8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9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7811BCE-7B02-4BA1-99E3-F7A515270A27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907880" y="527400"/>
            <a:ext cx="1473120" cy="838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71600" y="527400"/>
            <a:ext cx="4344840" cy="838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96E7A8F-BC43-41E5-B2B9-C0596293D45E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09400" cy="190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09400" cy="627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35A834C-6951-4B0D-9F20-AD4646F877CF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68000" y="2469600"/>
            <a:ext cx="5909400" cy="411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68000" y="6629400"/>
            <a:ext cx="5909400" cy="216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7BAEDF7-3DEA-4DCA-B284-79850E45ED91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09400" cy="190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2908800" cy="627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471840" y="2637000"/>
            <a:ext cx="2908800" cy="627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62DD992-7578-4764-9DC7-0A7262FD3B40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72320" y="527400"/>
            <a:ext cx="5909400" cy="190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72320" y="2428200"/>
            <a:ext cx="2895480" cy="118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72320" y="3618360"/>
            <a:ext cx="2895480" cy="531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3471840" y="2428200"/>
            <a:ext cx="2909880" cy="118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3471840" y="3618360"/>
            <a:ext cx="2909880" cy="531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dt" idx="22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ftr" idx="23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sldNum" idx="24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D73BE63-F4C4-499D-9BD5-C854C22B5A1C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09400" cy="190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3FD3373-298D-4943-8646-3A39D018292B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8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9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30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7BEF351-0069-4C75-B8EA-C190574F8556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06080" cy="23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66080" cy="703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06080" cy="549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7160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2271600" y="9181440"/>
            <a:ext cx="230868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4843440" y="9181440"/>
            <a:ext cx="1537200" cy="52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629A7B4-79B2-4A1B-B472-5AEC1120B6EE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juanaponterojas01/Digital_Twin_Battery_with_LSTM" TargetMode="External"/><Relationship Id="rId2" Type="http://schemas.openxmlformats.org/officeDocument/2006/relationships/hyperlink" Target="https://huggingface.co/spaces/juanaponterojas01/battery-soc-digital-twin" TargetMode="External"/><Relationship Id="rId3" Type="http://schemas.openxmlformats.org/officeDocument/2006/relationships/image" Target="../media/image1.jpeg"/><Relationship Id="rId4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feld 3"/>
          <p:cNvSpPr/>
          <p:nvPr/>
        </p:nvSpPr>
        <p:spPr>
          <a:xfrm>
            <a:off x="2269080" y="153360"/>
            <a:ext cx="341064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28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Juan Aponte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4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Entwicklungsingenieur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feld 5"/>
          <p:cNvSpPr/>
          <p:nvPr/>
        </p:nvSpPr>
        <p:spPr>
          <a:xfrm>
            <a:off x="2251440" y="1010880"/>
            <a:ext cx="41846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Email:</a:t>
            </a:r>
            <a:r>
              <a:rPr lang="es-CO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</a:t>
            </a:r>
            <a:r>
              <a:rPr lang="es-CO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juanaponterojas01@gmail.com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Tel: </a:t>
            </a: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+49 1590 6402645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Anschrift: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Spinnertraße 35, 38114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Geburtstag: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22.11.1994, Bogota – Kolumbien</a:t>
            </a:r>
            <a:br>
              <a:rPr sz="1200"/>
            </a:b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LinkedIn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: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linkedin.com/in/juan-aponte-736a79126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Gerader Verbinder 8"/>
          <p:cNvCxnSpPr/>
          <p:nvPr/>
        </p:nvCxnSpPr>
        <p:spPr>
          <a:xfrm>
            <a:off x="355320" y="2082600"/>
            <a:ext cx="5962320" cy="576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3" name="Textfeld 11"/>
          <p:cNvSpPr/>
          <p:nvPr/>
        </p:nvSpPr>
        <p:spPr>
          <a:xfrm>
            <a:off x="401400" y="2129040"/>
            <a:ext cx="1137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Kurzprofil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feld 12"/>
          <p:cNvSpPr/>
          <p:nvPr/>
        </p:nvSpPr>
        <p:spPr>
          <a:xfrm>
            <a:off x="540000" y="2421000"/>
            <a:ext cx="575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[professional_summary]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feld 13"/>
          <p:cNvSpPr/>
          <p:nvPr/>
        </p:nvSpPr>
        <p:spPr>
          <a:xfrm>
            <a:off x="2895480" y="3520440"/>
            <a:ext cx="16707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Berufserfahrung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feld 14"/>
          <p:cNvSpPr/>
          <p:nvPr/>
        </p:nvSpPr>
        <p:spPr>
          <a:xfrm>
            <a:off x="1285200" y="3860640"/>
            <a:ext cx="5325480" cy="59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Selbstständige Weiterbildung in Machine Learning, KI-Agenten und eigenständige Projektarbeit in Batteriesystemen.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Symbol" charset="2"/>
              <a:buChar char="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Projekt: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Physikinformierter, LSTM-basierter digitaler Zwilling zur Schätzung des Batterieladezustands. Weitere Informationen auf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1"/>
              </a:rPr>
              <a:t>GitHub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und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2"/>
              </a:rPr>
              <a:t>HuggingFace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zu finden.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Masterand bei TLK-Thermo GmbH im Bereich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Modellierung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Simulation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und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Optimierung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Projekt: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Optimierung eines Ladevorgangs für ein Batteriesystem.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Beschreibung eines 1D-Batteriemodells mit Kühlung unter Berücksichtigung der freien Konvektion in Modelica.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Modellierung des Strom-Deratings durch die Einbindung von Interpolationstabellen basierend auf Messwerten einer Fahrzeugbatterie.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Formulierung und Lösung eines Optimalsteuerungsproblems mit der Software CasADi.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Praktikant und Werkstudent bei TLK-Thermo GmbH im Bereich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Programmierung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Weiterentwicklung einer Backend-Software zur Bearbeitung und Konvertierung von Daten zwischen JSON-Dateien und Python-Klassen.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Implementierung einer grafischen Benutzeroberfläche zur Bearbeitung und Speicherung der Backend-Software.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Wissenschaftliche Hilfskraft an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Versuchsanlagen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zu adaptiven Dichtungen in Turbomaschinen, TU Braunschweig (IFAS Institut)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Versuchsaufbau, Versuchsdurchführung und Auswertung experimenteller Ergebnisse mit MATLAB.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" name="Gerader Verbinder 15"/>
          <p:cNvCxnSpPr/>
          <p:nvPr/>
        </p:nvCxnSpPr>
        <p:spPr>
          <a:xfrm>
            <a:off x="291960" y="126720"/>
            <a:ext cx="6012720" cy="576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8" name="CuadroTexto 111"/>
          <p:cNvSpPr/>
          <p:nvPr/>
        </p:nvSpPr>
        <p:spPr>
          <a:xfrm>
            <a:off x="3208320" y="9675000"/>
            <a:ext cx="95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Seite 1 von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Grafik 21"/>
          <p:cNvPicPr/>
          <p:nvPr/>
        </p:nvPicPr>
        <p:blipFill>
          <a:blip r:embed="rId3"/>
          <a:srcRect l="17031" t="10276" r="8874" b="25702"/>
          <a:stretch/>
        </p:blipFill>
        <p:spPr>
          <a:xfrm>
            <a:off x="495360" y="213480"/>
            <a:ext cx="15562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feld 1"/>
          <p:cNvSpPr/>
          <p:nvPr/>
        </p:nvSpPr>
        <p:spPr>
          <a:xfrm>
            <a:off x="0" y="5254200"/>
            <a:ext cx="13402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04/2024 – 11/2024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erader Verbinder 4"/>
          <p:cNvCxnSpPr/>
          <p:nvPr/>
        </p:nvCxnSpPr>
        <p:spPr>
          <a:xfrm>
            <a:off x="1281240" y="3974760"/>
            <a:ext cx="7200" cy="565740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72" name="Textfeld 7"/>
          <p:cNvSpPr/>
          <p:nvPr/>
        </p:nvSpPr>
        <p:spPr>
          <a:xfrm>
            <a:off x="0" y="7233120"/>
            <a:ext cx="13402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10/2023 – 03/2024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feld 9"/>
          <p:cNvSpPr/>
          <p:nvPr/>
        </p:nvSpPr>
        <p:spPr>
          <a:xfrm>
            <a:off x="0" y="8687520"/>
            <a:ext cx="1340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10/2022 – 04/2023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feld 2"/>
          <p:cNvSpPr/>
          <p:nvPr/>
        </p:nvSpPr>
        <p:spPr>
          <a:xfrm>
            <a:off x="2520" y="3897000"/>
            <a:ext cx="1340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Seit 02/2026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feld 3"/>
          <p:cNvSpPr/>
          <p:nvPr/>
        </p:nvSpPr>
        <p:spPr>
          <a:xfrm>
            <a:off x="3149640" y="88920"/>
            <a:ext cx="1348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Bildungsweg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feld 4"/>
          <p:cNvSpPr/>
          <p:nvPr/>
        </p:nvSpPr>
        <p:spPr>
          <a:xfrm>
            <a:off x="1346040" y="445680"/>
            <a:ext cx="5309280" cy="36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PyTorch for Deep Learning Bootcamp, ZTM Academy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Ein praxisorientierter Kurs zu Deep Learning mit PyTorch, einschließlich Modellaufbau, Training und Durchführung in reale Anwendungen.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 in Maschinenbau mit Vertiefungspunkt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Energie- und Verfahrenstechnik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TU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[master_subjects]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Vertiefte Kenntnisse in der Berechnung und Auslegung verschiedener Systeme wie Kolbenmaschinen, hydraulischer Strömungsmaschinen und Windenergieanlagen.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Studienarbeit: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Implementierung neuer Rückplattenmesstechnik zur Betriebsverhaltensanalyse von Kohlenschwimmringdichtungen.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Bachelor Maschinenbau, Universidad Nacional de 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Bachelorarbeit: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Entwicklung eines inkompressiblen Strömungslösers zur Untersuchung einfacher Turbulenzphänomene.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[bachelor_subjects]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feld 5"/>
          <p:cNvSpPr/>
          <p:nvPr/>
        </p:nvSpPr>
        <p:spPr>
          <a:xfrm>
            <a:off x="2768760" y="4718160"/>
            <a:ext cx="2102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Sonstige Leistungen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feld 6"/>
          <p:cNvSpPr/>
          <p:nvPr/>
        </p:nvSpPr>
        <p:spPr>
          <a:xfrm>
            <a:off x="1346040" y="5037840"/>
            <a:ext cx="550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Kultureller Austausch in Deutschland als Au-Pair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feld 7"/>
          <p:cNvSpPr/>
          <p:nvPr/>
        </p:nvSpPr>
        <p:spPr>
          <a:xfrm>
            <a:off x="1346040" y="5676840"/>
            <a:ext cx="5607720" cy="8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Volontär bei der katholischen Organisation  „Assumptionisten“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Begleitung und Unterstützung von Jugendlichen in benachteiligten ländlichen Gebieten.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uadroTexto 111"/>
          <p:cNvSpPr/>
          <p:nvPr/>
        </p:nvSpPr>
        <p:spPr>
          <a:xfrm>
            <a:off x="3208320" y="9675000"/>
            <a:ext cx="959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Seite 2 von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feld 9"/>
          <p:cNvSpPr/>
          <p:nvPr/>
        </p:nvSpPr>
        <p:spPr>
          <a:xfrm>
            <a:off x="3174840" y="6566040"/>
            <a:ext cx="1302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Fähigkeiten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feld 10"/>
          <p:cNvSpPr/>
          <p:nvPr/>
        </p:nvSpPr>
        <p:spPr>
          <a:xfrm>
            <a:off x="657360" y="6971040"/>
            <a:ext cx="57855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EDV Kenntnisse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Python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Modelica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Opencode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Matlab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Inventor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MS Office</a:t>
            </a:r>
            <a:br>
              <a:rPr sz="1200"/>
            </a:br>
            <a:br>
              <a:rPr sz="1200"/>
            </a:b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OpenFOAM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Abaqus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CasADi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feld 38"/>
          <p:cNvSpPr/>
          <p:nvPr/>
        </p:nvSpPr>
        <p:spPr>
          <a:xfrm>
            <a:off x="601200" y="8528400"/>
            <a:ext cx="212688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Sprachen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Spanisch: Muttersprachler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Deutsch: C1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Englisch: B2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feld 39"/>
          <p:cNvSpPr/>
          <p:nvPr/>
        </p:nvSpPr>
        <p:spPr>
          <a:xfrm>
            <a:off x="3491280" y="8546760"/>
            <a:ext cx="2446920" cy="100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Persönliche Interessen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Gitarre Spielen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Schach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Stricken und Häckeln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Ellipse 40"/>
          <p:cNvSpPr/>
          <p:nvPr/>
        </p:nvSpPr>
        <p:spPr>
          <a:xfrm>
            <a:off x="1658160" y="745092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Ellipse 41"/>
          <p:cNvSpPr/>
          <p:nvPr/>
        </p:nvSpPr>
        <p:spPr>
          <a:xfrm>
            <a:off x="1803960" y="7446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Ellipse 42"/>
          <p:cNvSpPr/>
          <p:nvPr/>
        </p:nvSpPr>
        <p:spPr>
          <a:xfrm>
            <a:off x="1940400" y="7446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Ellipse 43"/>
          <p:cNvSpPr/>
          <p:nvPr/>
        </p:nvSpPr>
        <p:spPr>
          <a:xfrm>
            <a:off x="2076840" y="7446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Ellipse 44"/>
          <p:cNvSpPr/>
          <p:nvPr/>
        </p:nvSpPr>
        <p:spPr>
          <a:xfrm>
            <a:off x="2213280" y="7446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Ellipse 45"/>
          <p:cNvSpPr/>
          <p:nvPr/>
        </p:nvSpPr>
        <p:spPr>
          <a:xfrm>
            <a:off x="1663920" y="81522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Ellipse 46"/>
          <p:cNvSpPr/>
          <p:nvPr/>
        </p:nvSpPr>
        <p:spPr>
          <a:xfrm>
            <a:off x="1809360" y="81478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Ellipse 47"/>
          <p:cNvSpPr/>
          <p:nvPr/>
        </p:nvSpPr>
        <p:spPr>
          <a:xfrm>
            <a:off x="1945800" y="81478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Ellipse 48"/>
          <p:cNvSpPr/>
          <p:nvPr/>
        </p:nvSpPr>
        <p:spPr>
          <a:xfrm>
            <a:off x="2082240" y="814788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Ellipse 49"/>
          <p:cNvSpPr/>
          <p:nvPr/>
        </p:nvSpPr>
        <p:spPr>
          <a:xfrm>
            <a:off x="2218680" y="814788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Ellipse 50"/>
          <p:cNvSpPr/>
          <p:nvPr/>
        </p:nvSpPr>
        <p:spPr>
          <a:xfrm>
            <a:off x="3279600" y="81802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Ellipse 51"/>
          <p:cNvSpPr/>
          <p:nvPr/>
        </p:nvSpPr>
        <p:spPr>
          <a:xfrm>
            <a:off x="3425040" y="8175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Ellipse 52"/>
          <p:cNvSpPr/>
          <p:nvPr/>
        </p:nvSpPr>
        <p:spPr>
          <a:xfrm>
            <a:off x="3561480" y="8175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Ellipse 53"/>
          <p:cNvSpPr/>
          <p:nvPr/>
        </p:nvSpPr>
        <p:spPr>
          <a:xfrm>
            <a:off x="3697920" y="817560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Ellipse 54"/>
          <p:cNvSpPr/>
          <p:nvPr/>
        </p:nvSpPr>
        <p:spPr>
          <a:xfrm>
            <a:off x="3834360" y="817560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Ellipse 55"/>
          <p:cNvSpPr/>
          <p:nvPr/>
        </p:nvSpPr>
        <p:spPr>
          <a:xfrm>
            <a:off x="1658160" y="77932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Ellipse 56"/>
          <p:cNvSpPr/>
          <p:nvPr/>
        </p:nvSpPr>
        <p:spPr>
          <a:xfrm>
            <a:off x="1803960" y="7788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Ellipse 57"/>
          <p:cNvSpPr/>
          <p:nvPr/>
        </p:nvSpPr>
        <p:spPr>
          <a:xfrm>
            <a:off x="1940400" y="7788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Ellipse 58"/>
          <p:cNvSpPr/>
          <p:nvPr/>
        </p:nvSpPr>
        <p:spPr>
          <a:xfrm>
            <a:off x="2076840" y="7788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Ellipse 59"/>
          <p:cNvSpPr/>
          <p:nvPr/>
        </p:nvSpPr>
        <p:spPr>
          <a:xfrm>
            <a:off x="2213280" y="778860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Ellipse 60"/>
          <p:cNvSpPr/>
          <p:nvPr/>
        </p:nvSpPr>
        <p:spPr>
          <a:xfrm>
            <a:off x="3268080" y="782136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Ellipse 61"/>
          <p:cNvSpPr/>
          <p:nvPr/>
        </p:nvSpPr>
        <p:spPr>
          <a:xfrm>
            <a:off x="3413880" y="78166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Ellipse 62"/>
          <p:cNvSpPr/>
          <p:nvPr/>
        </p:nvSpPr>
        <p:spPr>
          <a:xfrm>
            <a:off x="3550320" y="78166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Ellipse 63"/>
          <p:cNvSpPr/>
          <p:nvPr/>
        </p:nvSpPr>
        <p:spPr>
          <a:xfrm>
            <a:off x="3686760" y="78166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Ellipse 64"/>
          <p:cNvSpPr/>
          <p:nvPr/>
        </p:nvSpPr>
        <p:spPr>
          <a:xfrm>
            <a:off x="3823200" y="781668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Ellipse 65"/>
          <p:cNvSpPr/>
          <p:nvPr/>
        </p:nvSpPr>
        <p:spPr>
          <a:xfrm>
            <a:off x="3279600" y="745092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Ellipse 66"/>
          <p:cNvSpPr/>
          <p:nvPr/>
        </p:nvSpPr>
        <p:spPr>
          <a:xfrm>
            <a:off x="3425040" y="7446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Ellipse 67"/>
          <p:cNvSpPr/>
          <p:nvPr/>
        </p:nvSpPr>
        <p:spPr>
          <a:xfrm>
            <a:off x="3561480" y="7446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Ellipse 68"/>
          <p:cNvSpPr/>
          <p:nvPr/>
        </p:nvSpPr>
        <p:spPr>
          <a:xfrm>
            <a:off x="3697920" y="7446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Ellipse 69"/>
          <p:cNvSpPr/>
          <p:nvPr/>
        </p:nvSpPr>
        <p:spPr>
          <a:xfrm>
            <a:off x="3834360" y="744660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Ellipse 70"/>
          <p:cNvSpPr/>
          <p:nvPr/>
        </p:nvSpPr>
        <p:spPr>
          <a:xfrm>
            <a:off x="5243040" y="74502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Ellipse 71"/>
          <p:cNvSpPr/>
          <p:nvPr/>
        </p:nvSpPr>
        <p:spPr>
          <a:xfrm>
            <a:off x="5388480" y="744552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Ellipse 72"/>
          <p:cNvSpPr/>
          <p:nvPr/>
        </p:nvSpPr>
        <p:spPr>
          <a:xfrm>
            <a:off x="5524920" y="744552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Ellipse 73"/>
          <p:cNvSpPr/>
          <p:nvPr/>
        </p:nvSpPr>
        <p:spPr>
          <a:xfrm>
            <a:off x="5661360" y="744552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Ellipse 74"/>
          <p:cNvSpPr/>
          <p:nvPr/>
        </p:nvSpPr>
        <p:spPr>
          <a:xfrm>
            <a:off x="5797800" y="744552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Ellipse 75"/>
          <p:cNvSpPr/>
          <p:nvPr/>
        </p:nvSpPr>
        <p:spPr>
          <a:xfrm>
            <a:off x="5243040" y="77932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Ellipse 76"/>
          <p:cNvSpPr/>
          <p:nvPr/>
        </p:nvSpPr>
        <p:spPr>
          <a:xfrm>
            <a:off x="5388480" y="7788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Ellipse 77"/>
          <p:cNvSpPr/>
          <p:nvPr/>
        </p:nvSpPr>
        <p:spPr>
          <a:xfrm>
            <a:off x="5524920" y="7788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Ellipse 78"/>
          <p:cNvSpPr/>
          <p:nvPr/>
        </p:nvSpPr>
        <p:spPr>
          <a:xfrm>
            <a:off x="5661360" y="77886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Ellipse 79"/>
          <p:cNvSpPr/>
          <p:nvPr/>
        </p:nvSpPr>
        <p:spPr>
          <a:xfrm>
            <a:off x="5797800" y="778860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Ellipse 1"/>
          <p:cNvSpPr/>
          <p:nvPr/>
        </p:nvSpPr>
        <p:spPr>
          <a:xfrm>
            <a:off x="5246280" y="814752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Ellipse 2"/>
          <p:cNvSpPr/>
          <p:nvPr/>
        </p:nvSpPr>
        <p:spPr>
          <a:xfrm>
            <a:off x="5392080" y="81432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Ellipse 11"/>
          <p:cNvSpPr/>
          <p:nvPr/>
        </p:nvSpPr>
        <p:spPr>
          <a:xfrm>
            <a:off x="5528520" y="81432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Ellipse 12"/>
          <p:cNvSpPr/>
          <p:nvPr/>
        </p:nvSpPr>
        <p:spPr>
          <a:xfrm>
            <a:off x="5664960" y="814320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Ellipse 13"/>
          <p:cNvSpPr/>
          <p:nvPr/>
        </p:nvSpPr>
        <p:spPr>
          <a:xfrm>
            <a:off x="5801400" y="8143200"/>
            <a:ext cx="91080" cy="9000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feld 14"/>
          <p:cNvSpPr/>
          <p:nvPr/>
        </p:nvSpPr>
        <p:spPr>
          <a:xfrm>
            <a:off x="0" y="1242720"/>
            <a:ext cx="13402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10/2020 – 11/2024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erader Verbinder 15"/>
          <p:cNvCxnSpPr/>
          <p:nvPr/>
        </p:nvCxnSpPr>
        <p:spPr>
          <a:xfrm>
            <a:off x="1282680" y="444240"/>
            <a:ext cx="5760" cy="589860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132" name="Textfeld 16"/>
          <p:cNvSpPr/>
          <p:nvPr/>
        </p:nvSpPr>
        <p:spPr>
          <a:xfrm>
            <a:off x="0" y="3353040"/>
            <a:ext cx="13402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01/2013 – 07/2019 Kolumbien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feld 18"/>
          <p:cNvSpPr/>
          <p:nvPr/>
        </p:nvSpPr>
        <p:spPr>
          <a:xfrm>
            <a:off x="0" y="4940280"/>
            <a:ext cx="13402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06/2019 – 06/2020  Usingen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feld 19"/>
          <p:cNvSpPr/>
          <p:nvPr/>
        </p:nvSpPr>
        <p:spPr>
          <a:xfrm>
            <a:off x="0" y="5664240"/>
            <a:ext cx="13402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04/2012, 2013, 2014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Kolumbien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feld 8"/>
          <p:cNvSpPr/>
          <p:nvPr/>
        </p:nvSpPr>
        <p:spPr>
          <a:xfrm>
            <a:off x="360" y="444960"/>
            <a:ext cx="1340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12/2025 - 03/2026 Online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Ellipse 3"/>
          <p:cNvSpPr/>
          <p:nvPr/>
        </p:nvSpPr>
        <p:spPr>
          <a:xfrm>
            <a:off x="5668920" y="7445880"/>
            <a:ext cx="91080" cy="9000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</TotalTime>
  <Application>LibreOffice/25.8.6.2$Windows_X86_64 LibreOffice_project/b4b39682cd9868fa725bc664aff94278d315bd04</Application>
  <AppVersion>15.0000</AppVersion>
  <Words>474</Words>
  <Paragraphs>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2024-10-15T15:37:39Z</dcterms:created>
  <dc:creator>juan aponte</dc:creator>
  <dc:description/>
  <dc:language>de-DE</dc:language>
  <cp:lastModifiedBy/>
  <dcterms:modified xsi:type="dcterms:W3CDTF">2026-05-28T14:58:01Z</dcterms:modified>
  <cp:revision>58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A4-Papier (210 x 297 mm)</vt:lpwstr>
  </property>
  <property fmtid="{D5CDD505-2E9C-101B-9397-08002B2CF9AE}" pid="3" name="Slides">
    <vt:i4>2</vt:i4>
  </property>
</Properties>
</file>