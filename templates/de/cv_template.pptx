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</p:sldIdLst>
  <p:sldSz cx="6858000" cy="9906000"/>
  <p:notesSz cx="7559675" cy="10691813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Le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dt" idx="1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2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3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DFAA1F4-2C5E-4E33-B669-FC4A696E7A20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halt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7160" cy="230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7160" cy="7035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7160" cy="55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52DBE71-197D-4FD9-BF23-E11DCD34C5A4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ild mit 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472320" y="660240"/>
            <a:ext cx="2207160" cy="2306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2915640" y="1426320"/>
            <a:ext cx="3467160" cy="70351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Bild durch Klicken auf Symbol hinzufügen</a:t>
            </a:r>
            <a:endParaRPr lang="de-DE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472320" y="2971800"/>
            <a:ext cx="2207160" cy="55008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D5861538-9CB2-4B24-A816-BC942E5363D9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elfoli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514440" y="1621080"/>
            <a:ext cx="5824800" cy="34441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FE26C46-A20B-4322-8357-636B91BFFA1C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342720" y="2317680"/>
            <a:ext cx="6167520" cy="5740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Format des Gliederungstextes durch Klicken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Gliederungsebene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Gliederungsebene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Sechste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Siebte Gliederungsebene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el und vertikaler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0480" cy="19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0480" cy="628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PlaceHolder 3"/>
          <p:cNvSpPr>
            <a:spLocks noGrp="1"/>
          </p:cNvSpPr>
          <p:nvPr>
            <p:ph type="dt" idx="13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4"/>
          <p:cNvSpPr>
            <a:spLocks noGrp="1"/>
          </p:cNvSpPr>
          <p:nvPr>
            <p:ph type="ftr" idx="14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6" name="PlaceHolder 5"/>
          <p:cNvSpPr>
            <a:spLocks noGrp="1"/>
          </p:cNvSpPr>
          <p:nvPr>
            <p:ph type="sldNum" idx="15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23786F5E-A1A1-4418-A8F6-D41872DF00FF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kaler Titel u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PlaceHolder 1"/>
          <p:cNvSpPr>
            <a:spLocks noGrp="1"/>
          </p:cNvSpPr>
          <p:nvPr>
            <p:ph type="title"/>
          </p:nvPr>
        </p:nvSpPr>
        <p:spPr>
          <a:xfrm>
            <a:off x="4907880" y="527400"/>
            <a:ext cx="1474200" cy="839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2"/>
          <p:cNvSpPr>
            <a:spLocks noGrp="1"/>
          </p:cNvSpPr>
          <p:nvPr>
            <p:ph type="body"/>
          </p:nvPr>
        </p:nvSpPr>
        <p:spPr>
          <a:xfrm>
            <a:off x="471600" y="527400"/>
            <a:ext cx="4345920" cy="839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3"/>
          <p:cNvSpPr>
            <a:spLocks noGrp="1"/>
          </p:cNvSpPr>
          <p:nvPr>
            <p:ph type="dt" idx="16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4"/>
          <p:cNvSpPr>
            <a:spLocks noGrp="1"/>
          </p:cNvSpPr>
          <p:nvPr>
            <p:ph type="ftr" idx="17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1" name="PlaceHolder 5"/>
          <p:cNvSpPr>
            <a:spLocks noGrp="1"/>
          </p:cNvSpPr>
          <p:nvPr>
            <p:ph type="sldNum" idx="18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FF0B0B0A-84FB-4AA2-BDCA-DBC3E32D69AE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el und Inha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0480" cy="19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5910480" cy="628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PlaceHolder 3"/>
          <p:cNvSpPr>
            <a:spLocks noGrp="1"/>
          </p:cNvSpPr>
          <p:nvPr>
            <p:ph type="dt" idx="19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4"/>
          <p:cNvSpPr>
            <a:spLocks noGrp="1"/>
          </p:cNvSpPr>
          <p:nvPr>
            <p:ph type="ftr" idx="20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6" name="PlaceHolder 5"/>
          <p:cNvSpPr>
            <a:spLocks noGrp="1"/>
          </p:cNvSpPr>
          <p:nvPr>
            <p:ph type="sldNum" idx="21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D7C5006-A67B-495F-B711-29E279E2A8D8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Abschnitts-&#10;überschrif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468000" y="2469600"/>
            <a:ext cx="5910480" cy="4115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45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4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468000" y="6629400"/>
            <a:ext cx="5910480" cy="2162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2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ftr" idx="23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sldNum" idx="24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BF4E6299-5FEE-4A58-983A-32C8E34CD98B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Zwei Inhal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0480" cy="19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2"/>
          <p:cNvSpPr>
            <a:spLocks noGrp="1"/>
          </p:cNvSpPr>
          <p:nvPr>
            <p:ph type="body"/>
          </p:nvPr>
        </p:nvSpPr>
        <p:spPr>
          <a:xfrm>
            <a:off x="471600" y="2637000"/>
            <a:ext cx="2909880" cy="628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3"/>
          <p:cNvSpPr>
            <a:spLocks noGrp="1"/>
          </p:cNvSpPr>
          <p:nvPr>
            <p:ph type="body"/>
          </p:nvPr>
        </p:nvSpPr>
        <p:spPr>
          <a:xfrm>
            <a:off x="3471840" y="2637000"/>
            <a:ext cx="2909880" cy="6280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PlaceHolder 4"/>
          <p:cNvSpPr>
            <a:spLocks noGrp="1"/>
          </p:cNvSpPr>
          <p:nvPr>
            <p:ph type="dt" idx="25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5"/>
          <p:cNvSpPr>
            <a:spLocks noGrp="1"/>
          </p:cNvSpPr>
          <p:nvPr>
            <p:ph type="ftr" idx="26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7" name="PlaceHolder 6"/>
          <p:cNvSpPr>
            <a:spLocks noGrp="1"/>
          </p:cNvSpPr>
          <p:nvPr>
            <p:ph type="sldNum" idx="27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8DECB0ED-18CE-4B8B-943E-BDB7CED7F7BD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ergleic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472320" y="527400"/>
            <a:ext cx="5910480" cy="19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472320" y="2428200"/>
            <a:ext cx="2896560" cy="11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3"/>
          <p:cNvSpPr>
            <a:spLocks noGrp="1"/>
          </p:cNvSpPr>
          <p:nvPr>
            <p:ph type="body"/>
          </p:nvPr>
        </p:nvSpPr>
        <p:spPr>
          <a:xfrm>
            <a:off x="472320" y="3618360"/>
            <a:ext cx="2896560" cy="531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4"/>
          <p:cNvSpPr>
            <a:spLocks noGrp="1"/>
          </p:cNvSpPr>
          <p:nvPr>
            <p:ph type="body"/>
          </p:nvPr>
        </p:nvSpPr>
        <p:spPr>
          <a:xfrm>
            <a:off x="3471840" y="2428200"/>
            <a:ext cx="2910960" cy="1185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685800">
              <a:lnSpc>
                <a:spcPct val="90000"/>
              </a:lnSpc>
              <a:spcBef>
                <a:spcPts val="751"/>
              </a:spcBef>
              <a:buNone/>
              <a:tabLst>
                <a:tab algn="l" pos="0"/>
              </a:tabLst>
            </a:pPr>
            <a:r>
              <a:rPr lang="de-DE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5"/>
          <p:cNvSpPr>
            <a:spLocks noGrp="1"/>
          </p:cNvSpPr>
          <p:nvPr>
            <p:ph type="body"/>
          </p:nvPr>
        </p:nvSpPr>
        <p:spPr>
          <a:xfrm>
            <a:off x="3471840" y="3618360"/>
            <a:ext cx="2910960" cy="53175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171360" indent="-171360" defTabSz="685800">
              <a:lnSpc>
                <a:spcPct val="90000"/>
              </a:lnSpc>
              <a:spcBef>
                <a:spcPts val="751"/>
              </a:spcBef>
              <a:buClr>
                <a:srgbClr val="000000"/>
              </a:buClr>
              <a:buFont typeface="Arial"/>
              <a:buChar char="•"/>
            </a:pPr>
            <a:r>
              <a:rPr lang="de-DE" sz="21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Mastertextformat bearbeiten</a:t>
            </a:r>
            <a:endParaRPr lang="de-DE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514440" lvl="1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Zweite Ebene</a:t>
            </a: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57160" lvl="2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5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Dritte Ebene</a:t>
            </a:r>
            <a:endParaRPr lang="de-DE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00240" lvl="3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Vierte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542960" lvl="4" indent="-171360" defTabSz="685800">
              <a:lnSpc>
                <a:spcPct val="90000"/>
              </a:lnSpc>
              <a:spcBef>
                <a:spcPts val="374"/>
              </a:spcBef>
              <a:buClr>
                <a:srgbClr val="000000"/>
              </a:buClr>
              <a:buFont typeface="Arial"/>
              <a:buChar char="•"/>
            </a:pPr>
            <a:r>
              <a:rPr lang="de-DE" sz="135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Fünfte Ebene</a:t>
            </a:r>
            <a:endParaRPr lang="de-DE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PlaceHolder 6"/>
          <p:cNvSpPr>
            <a:spLocks noGrp="1"/>
          </p:cNvSpPr>
          <p:nvPr>
            <p:ph type="dt" idx="28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7"/>
          <p:cNvSpPr>
            <a:spLocks noGrp="1"/>
          </p:cNvSpPr>
          <p:nvPr>
            <p:ph type="ftr" idx="29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5" name="PlaceHolder 8"/>
          <p:cNvSpPr>
            <a:spLocks noGrp="1"/>
          </p:cNvSpPr>
          <p:nvPr>
            <p:ph type="sldNum" idx="30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7C3EF77E-3409-4BD7-A8AC-3A19330F6FDA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Nur Tite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/>
          </p:cNvSpPr>
          <p:nvPr>
            <p:ph type="title"/>
          </p:nvPr>
        </p:nvSpPr>
        <p:spPr>
          <a:xfrm>
            <a:off x="471600" y="527400"/>
            <a:ext cx="5910480" cy="1910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685800">
              <a:lnSpc>
                <a:spcPct val="90000"/>
              </a:lnSpc>
              <a:buNone/>
              <a:tabLst>
                <a:tab algn="l" pos="0"/>
              </a:tabLst>
            </a:pPr>
            <a:r>
              <a:rPr lang="de-DE" sz="33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Mastertitelformat bearbeiten</a:t>
            </a:r>
            <a:endParaRPr lang="de-DE" sz="3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PlaceHolder 2"/>
          <p:cNvSpPr>
            <a:spLocks noGrp="1"/>
          </p:cNvSpPr>
          <p:nvPr>
            <p:ph type="dt" idx="31"/>
          </p:nvPr>
        </p:nvSpPr>
        <p:spPr>
          <a:xfrm>
            <a:off x="47160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457200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&lt;Datum/Uhrzeit&gt;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ftr" idx="32"/>
          </p:nvPr>
        </p:nvSpPr>
        <p:spPr>
          <a:xfrm>
            <a:off x="2271600" y="9181440"/>
            <a:ext cx="230976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4"/>
          <p:cNvSpPr>
            <a:spLocks noGrp="1"/>
          </p:cNvSpPr>
          <p:nvPr>
            <p:ph type="sldNum" idx="33"/>
          </p:nvPr>
        </p:nvSpPr>
        <p:spPr>
          <a:xfrm>
            <a:off x="4843440" y="9181440"/>
            <a:ext cx="1538280" cy="522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457200">
              <a:lnSpc>
                <a:spcPct val="100000"/>
              </a:lnSpc>
              <a:buNone/>
              <a:tabLst>
                <a:tab algn="l" pos="0"/>
              </a:tabLst>
              <a:def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457200">
              <a:lnSpc>
                <a:spcPct val="100000"/>
              </a:lnSpc>
              <a:buNone/>
              <a:tabLst>
                <a:tab algn="l" pos="0"/>
              </a:tabLst>
            </a:pPr>
            <a:fld id="{9137A0F1-8D1C-4AB2-91DF-36294B984315}" type="slidenum">
              <a:rPr lang="de-DE" sz="9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&lt;Foliennummer&gt;</a:t>
            </a:fld>
            <a:endParaRPr lang="de-DE" sz="9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hyperlink" Target="https://github.com/juanaponterojas01/Digital_Twin_Battery_with_LSTM" TargetMode="External"/><Relationship Id="rId2" Type="http://schemas.openxmlformats.org/officeDocument/2006/relationships/hyperlink" Target="https://huggingface.co/spaces/juanaponterojas01/battery-soc-digital-twin" TargetMode="External"/><Relationship Id="rId3" Type="http://schemas.openxmlformats.org/officeDocument/2006/relationships/image" Target="../media/image1.jpeg"/><Relationship Id="rId4" Type="http://schemas.openxmlformats.org/officeDocument/2006/relationships/slideLayout" Target="../slideLayouts/slideLayout4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7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Textfeld 3"/>
          <p:cNvSpPr/>
          <p:nvPr/>
        </p:nvSpPr>
        <p:spPr>
          <a:xfrm>
            <a:off x="2269080" y="153360"/>
            <a:ext cx="341172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28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Juan Aponte</a:t>
            </a:r>
            <a:endParaRPr lang="de-DE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4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Entwicklungsingenieur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feld 5"/>
          <p:cNvSpPr/>
          <p:nvPr/>
        </p:nvSpPr>
        <p:spPr>
          <a:xfrm>
            <a:off x="2251440" y="1010880"/>
            <a:ext cx="418572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Email:</a:t>
            </a:r>
            <a:r>
              <a:rPr lang="es-CO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r>
              <a:rPr lang="es-CO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juanaponterojas01@gmail.com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Tel: </a:t>
            </a: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+49 1590 6402645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Anschrift: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Spinnertraße 35, 38114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Geburtstag: 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22.11.1994, Bogota – Kolumbien</a:t>
            </a:r>
            <a:br>
              <a:rPr sz="1200"/>
            </a:b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LinkedIn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:</a:t>
            </a:r>
            <a:r>
              <a:rPr lang="de-DE" sz="1200" b="0" u="none" strike="noStrike">
                <a:solidFill>
                  <a:schemeClr val="dk1">
                    <a:lumMod val="95000"/>
                    <a:lumOff val="5000"/>
                  </a:schemeClr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linkedin.com/in/juan-aponte-736a79126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2" name="Gerader Verbinder 8"/>
          <p:cNvCxnSpPr/>
          <p:nvPr/>
        </p:nvCxnSpPr>
        <p:spPr>
          <a:xfrm>
            <a:off x="355320" y="2082600"/>
            <a:ext cx="5961240" cy="468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3" name="Textfeld 11"/>
          <p:cNvSpPr/>
          <p:nvPr/>
        </p:nvSpPr>
        <p:spPr>
          <a:xfrm>
            <a:off x="401400" y="2165040"/>
            <a:ext cx="113832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Kurzprofil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feld 12"/>
          <p:cNvSpPr/>
          <p:nvPr/>
        </p:nvSpPr>
        <p:spPr>
          <a:xfrm>
            <a:off x="540000" y="2457000"/>
            <a:ext cx="5940000" cy="27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[professional_summary]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feld 13"/>
          <p:cNvSpPr/>
          <p:nvPr/>
        </p:nvSpPr>
        <p:spPr>
          <a:xfrm>
            <a:off x="2895480" y="3520440"/>
            <a:ext cx="167184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Berufserfahrung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Textfeld 14"/>
          <p:cNvSpPr/>
          <p:nvPr/>
        </p:nvSpPr>
        <p:spPr>
          <a:xfrm>
            <a:off x="1285200" y="3860640"/>
            <a:ext cx="5326560" cy="597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Selbstständige Weiterbildung in Machine Learning, KI-Agenten und eigenständige Projektarbeit in Batteriesystemen.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" indent="-21600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Symbol" charset="2"/>
              <a:buChar char="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Physikinformierter, LSTM-basierter digitaler Zwilling zur Schätzung des Batterieladezustands. Weitere Informationen auf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1"/>
              </a:rPr>
              <a:t>GitHub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und </a:t>
            </a: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  <a:hlinkClick r:id="rId2"/>
              </a:rPr>
              <a:t>HuggingFace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zu finden.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Masterand bei TLK-Thermo GmbH im Bereich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Modellierung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Simulation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und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Optimierung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Projekt: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Optimierung eines Ladevorgangs für ein Batteriesystem.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Beschreibung eines 1D-Batteriemodells mit Kühlung unter Berücksichtigung der freien Konvektion in Modelica.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Modellierung des Strom-Deratings durch die Einbindung von Interpolationstabellen basierend auf Messwerten einer Fahrzeugbatterie.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Formulierung und Lösung eines Optimalsteuerungsproblems mit der Software CasADi.</a:t>
            </a:r>
            <a:br>
              <a:rPr sz="1200"/>
            </a:b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Praktikant und Werkstudent bei TLK-Thermo GmbH im Bereich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Programmierung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Weiterentwicklung einer Backend-Software zur Bearbeitung und Konvertierung von Daten zwischen JSON-Dateien und Python-Klassen.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Implementierung einer grafischen Benutzeroberfläche zur Bearbeitung und Speicherung der Backend-Software.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</a:pPr>
            <a:endParaRPr lang="de-DE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7000"/>
              </a:lnSpc>
              <a:spcAft>
                <a:spcPts val="799"/>
              </a:spcAft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Wissenschaftliche Hilfskraft an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Versuchsanlagen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zu adaptiven Dichtungen in Turbomaschinen, TU Braunschweig (IFAS Institut)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7000"/>
              </a:lnSpc>
              <a:spcAft>
                <a:spcPts val="799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Versuchsaufbau, Versuchsdurchführung und Auswertung experimenteller Ergebnisse mit MATLAB.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7000"/>
              </a:lnSpc>
              <a:spcAft>
                <a:spcPts val="799"/>
              </a:spcAft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67" name="Gerader Verbinder 15"/>
          <p:cNvCxnSpPr/>
          <p:nvPr/>
        </p:nvCxnSpPr>
        <p:spPr>
          <a:xfrm>
            <a:off x="291960" y="126720"/>
            <a:ext cx="6011640" cy="468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68" name="CuadroTexto 111"/>
          <p:cNvSpPr/>
          <p:nvPr/>
        </p:nvSpPr>
        <p:spPr>
          <a:xfrm>
            <a:off x="3208320" y="9675000"/>
            <a:ext cx="960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Seite 1 von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69" name="Grafik 21"/>
          <p:cNvPicPr/>
          <p:nvPr/>
        </p:nvPicPr>
        <p:blipFill>
          <a:blip r:embed="rId3"/>
          <a:srcRect l="17038" t="10276" r="8874" b="25713"/>
          <a:stretch/>
        </p:blipFill>
        <p:spPr>
          <a:xfrm>
            <a:off x="495360" y="213480"/>
            <a:ext cx="1557360" cy="1795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0" name="Textfeld 1"/>
          <p:cNvSpPr/>
          <p:nvPr/>
        </p:nvSpPr>
        <p:spPr>
          <a:xfrm>
            <a:off x="0" y="525420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04/2024 – 11/2024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71" name="Gerader Verbinder 4"/>
          <p:cNvCxnSpPr/>
          <p:nvPr/>
        </p:nvCxnSpPr>
        <p:spPr>
          <a:xfrm>
            <a:off x="1281240" y="3974760"/>
            <a:ext cx="6120" cy="565632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72" name="Textfeld 7"/>
          <p:cNvSpPr/>
          <p:nvPr/>
        </p:nvSpPr>
        <p:spPr>
          <a:xfrm>
            <a:off x="0" y="723312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10/2023 – 03/2024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feld 9"/>
          <p:cNvSpPr/>
          <p:nvPr/>
        </p:nvSpPr>
        <p:spPr>
          <a:xfrm>
            <a:off x="0" y="8687520"/>
            <a:ext cx="1341360" cy="63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10/2022 – 04/2023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feld 2"/>
          <p:cNvSpPr/>
          <p:nvPr/>
        </p:nvSpPr>
        <p:spPr>
          <a:xfrm>
            <a:off x="2520" y="3897000"/>
            <a:ext cx="134136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Seit 02/2026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Textfeld 3"/>
          <p:cNvSpPr/>
          <p:nvPr/>
        </p:nvSpPr>
        <p:spPr>
          <a:xfrm>
            <a:off x="3149640" y="88920"/>
            <a:ext cx="13492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Bildungsweg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feld 4"/>
          <p:cNvSpPr/>
          <p:nvPr/>
        </p:nvSpPr>
        <p:spPr>
          <a:xfrm>
            <a:off x="1346040" y="445680"/>
            <a:ext cx="5310360" cy="3658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PyTorch for Deep Learning Bootcamp, ZTM Academy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Ein praxisorientierter Kurs zu Deep Learning mit PyTorch, einschließlich Modellaufbau, Training und Durchführung in reale Anwendungen.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Master in Maschinenbau mit Vertiefungspunkt </a:t>
            </a:r>
            <a:r>
              <a:rPr lang="de-DE" sz="12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Energie- und Verfahrenstechnik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, TU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[master_subjects]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Vertiefte Kenntnisse in der Berechnung und Auslegung verschiedener Systeme wie Kolbenmaschinen, hydraulischer Strömungsmaschinen und Windenergieanlagen.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Studienarbeit: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Implementierung neuer Rückplattenmesstechnik zur Betriebsverhaltensanalyse von Kohlenschwimmringdichtungen.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Bachelor Maschinenbau, Universidad Nacional de Colombia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sng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Bachelorarbeit:</a:t>
            </a: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 Entwicklung eines inkompressiblen Strömungslösers zur Untersuchung einfacher Turbulenzphänomene.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[bachelor_subjects]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feld 5"/>
          <p:cNvSpPr/>
          <p:nvPr/>
        </p:nvSpPr>
        <p:spPr>
          <a:xfrm>
            <a:off x="2768760" y="4718160"/>
            <a:ext cx="210348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Sonstige Leistungen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feld 6"/>
          <p:cNvSpPr/>
          <p:nvPr/>
        </p:nvSpPr>
        <p:spPr>
          <a:xfrm>
            <a:off x="1346040" y="5037840"/>
            <a:ext cx="5507280" cy="272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Kultureller Austausch in Deutschland als Au-Pair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feld 7"/>
          <p:cNvSpPr/>
          <p:nvPr/>
        </p:nvSpPr>
        <p:spPr>
          <a:xfrm>
            <a:off x="1346040" y="5676840"/>
            <a:ext cx="5608800" cy="826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Volontär bei der katholischen Organisation  „Assumptionisten“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de-DE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Begleitung und Unterstützung von Jugendlichen in benachteiligten ländlichen Gebieten.</a:t>
            </a: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CuadroTexto 111"/>
          <p:cNvSpPr/>
          <p:nvPr/>
        </p:nvSpPr>
        <p:spPr>
          <a:xfrm>
            <a:off x="3208320" y="9675000"/>
            <a:ext cx="960120" cy="22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9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Seite 2 von 2</a:t>
            </a:r>
            <a:endParaRPr lang="de-DE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feld 9"/>
          <p:cNvSpPr/>
          <p:nvPr/>
        </p:nvSpPr>
        <p:spPr>
          <a:xfrm>
            <a:off x="3174840" y="6566040"/>
            <a:ext cx="1303560" cy="30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es-CO" sz="1400" b="1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Fähigkeiten</a:t>
            </a:r>
            <a:endParaRPr lang="de-DE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feld 10"/>
          <p:cNvSpPr/>
          <p:nvPr/>
        </p:nvSpPr>
        <p:spPr>
          <a:xfrm>
            <a:off x="657360" y="6971040"/>
            <a:ext cx="578664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EDV Kenntnisse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Python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Modelica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C++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Matlab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Inventor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MS Office</a:t>
            </a:r>
            <a:br>
              <a:rPr sz="1200"/>
            </a:br>
            <a:br>
              <a:rPr sz="1200"/>
            </a:b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OpenFOAM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Abaqus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	</a:t>
            </a: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CasADi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feld 38"/>
          <p:cNvSpPr/>
          <p:nvPr/>
        </p:nvSpPr>
        <p:spPr>
          <a:xfrm>
            <a:off x="601200" y="8528400"/>
            <a:ext cx="2127960" cy="1004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Sprachen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Spanisch: Muttersprachler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Deutsch: C1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Englisch: B2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feld 39"/>
          <p:cNvSpPr/>
          <p:nvPr/>
        </p:nvSpPr>
        <p:spPr>
          <a:xfrm>
            <a:off x="3491280" y="8546760"/>
            <a:ext cx="2448000" cy="1010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457200">
              <a:lnSpc>
                <a:spcPct val="100000"/>
              </a:lnSpc>
            </a:pPr>
            <a:r>
              <a:rPr lang="es-CO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Persönliche Interessen</a:t>
            </a:r>
            <a:br>
              <a:rPr sz="1200"/>
            </a:b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Gitarre Spielen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Schach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457200">
              <a:lnSpc>
                <a:spcPct val="100000"/>
              </a:lnSpc>
              <a:buClr>
                <a:srgbClr val="002060"/>
              </a:buClr>
              <a:buFont typeface="Arial"/>
              <a:buChar char="•"/>
            </a:pPr>
            <a:r>
              <a:rPr lang="es-CO" sz="1200" b="0" u="none" strike="noStrike">
                <a:solidFill>
                  <a:schemeClr val="dk1"/>
                </a:solidFill>
                <a:effectLst/>
                <a:uFillTx/>
                <a:latin typeface="Tahoma"/>
                <a:ea typeface="Tahoma"/>
              </a:rPr>
              <a:t>Stricken und Häckeln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Ellipse 40"/>
          <p:cNvSpPr/>
          <p:nvPr/>
        </p:nvSpPr>
        <p:spPr>
          <a:xfrm>
            <a:off x="1658160" y="745092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6" name="Ellipse 41"/>
          <p:cNvSpPr/>
          <p:nvPr/>
        </p:nvSpPr>
        <p:spPr>
          <a:xfrm>
            <a:off x="180396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7" name="Ellipse 42"/>
          <p:cNvSpPr/>
          <p:nvPr/>
        </p:nvSpPr>
        <p:spPr>
          <a:xfrm>
            <a:off x="194040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8" name="Ellipse 43"/>
          <p:cNvSpPr/>
          <p:nvPr/>
        </p:nvSpPr>
        <p:spPr>
          <a:xfrm>
            <a:off x="207684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89" name="Ellipse 44"/>
          <p:cNvSpPr/>
          <p:nvPr/>
        </p:nvSpPr>
        <p:spPr>
          <a:xfrm>
            <a:off x="221328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0" name="Ellipse 45"/>
          <p:cNvSpPr/>
          <p:nvPr/>
        </p:nvSpPr>
        <p:spPr>
          <a:xfrm>
            <a:off x="1663920" y="81522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1" name="Ellipse 46"/>
          <p:cNvSpPr/>
          <p:nvPr/>
        </p:nvSpPr>
        <p:spPr>
          <a:xfrm>
            <a:off x="1809360" y="81478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2" name="Ellipse 47"/>
          <p:cNvSpPr/>
          <p:nvPr/>
        </p:nvSpPr>
        <p:spPr>
          <a:xfrm>
            <a:off x="1945800" y="81478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3" name="Ellipse 48"/>
          <p:cNvSpPr/>
          <p:nvPr/>
        </p:nvSpPr>
        <p:spPr>
          <a:xfrm>
            <a:off x="2082240" y="814788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4" name="Ellipse 49"/>
          <p:cNvSpPr/>
          <p:nvPr/>
        </p:nvSpPr>
        <p:spPr>
          <a:xfrm>
            <a:off x="2218680" y="814788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Ellipse 50"/>
          <p:cNvSpPr/>
          <p:nvPr/>
        </p:nvSpPr>
        <p:spPr>
          <a:xfrm>
            <a:off x="3279600" y="81802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Ellipse 51"/>
          <p:cNvSpPr/>
          <p:nvPr/>
        </p:nvSpPr>
        <p:spPr>
          <a:xfrm>
            <a:off x="3425040" y="8175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7" name="Ellipse 52"/>
          <p:cNvSpPr/>
          <p:nvPr/>
        </p:nvSpPr>
        <p:spPr>
          <a:xfrm>
            <a:off x="3561480" y="8175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8" name="Ellipse 53"/>
          <p:cNvSpPr/>
          <p:nvPr/>
        </p:nvSpPr>
        <p:spPr>
          <a:xfrm>
            <a:off x="3697920" y="81756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9" name="Ellipse 54"/>
          <p:cNvSpPr/>
          <p:nvPr/>
        </p:nvSpPr>
        <p:spPr>
          <a:xfrm>
            <a:off x="3834360" y="81756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0" name="Ellipse 55"/>
          <p:cNvSpPr/>
          <p:nvPr/>
        </p:nvSpPr>
        <p:spPr>
          <a:xfrm>
            <a:off x="1658160" y="77932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1" name="Ellipse 56"/>
          <p:cNvSpPr/>
          <p:nvPr/>
        </p:nvSpPr>
        <p:spPr>
          <a:xfrm>
            <a:off x="180396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2" name="Ellipse 57"/>
          <p:cNvSpPr/>
          <p:nvPr/>
        </p:nvSpPr>
        <p:spPr>
          <a:xfrm>
            <a:off x="194040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3" name="Ellipse 58"/>
          <p:cNvSpPr/>
          <p:nvPr/>
        </p:nvSpPr>
        <p:spPr>
          <a:xfrm>
            <a:off x="207684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4" name="Ellipse 59"/>
          <p:cNvSpPr/>
          <p:nvPr/>
        </p:nvSpPr>
        <p:spPr>
          <a:xfrm>
            <a:off x="2213280" y="77886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5" name="Ellipse 60"/>
          <p:cNvSpPr/>
          <p:nvPr/>
        </p:nvSpPr>
        <p:spPr>
          <a:xfrm>
            <a:off x="3268080" y="782136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6" name="Ellipse 61"/>
          <p:cNvSpPr/>
          <p:nvPr/>
        </p:nvSpPr>
        <p:spPr>
          <a:xfrm>
            <a:off x="3413880" y="78166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7" name="Ellipse 62"/>
          <p:cNvSpPr/>
          <p:nvPr/>
        </p:nvSpPr>
        <p:spPr>
          <a:xfrm>
            <a:off x="3550320" y="78166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8" name="Ellipse 63"/>
          <p:cNvSpPr/>
          <p:nvPr/>
        </p:nvSpPr>
        <p:spPr>
          <a:xfrm>
            <a:off x="3686760" y="78166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09" name="Ellipse 64"/>
          <p:cNvSpPr/>
          <p:nvPr/>
        </p:nvSpPr>
        <p:spPr>
          <a:xfrm>
            <a:off x="3823200" y="781668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0" name="Ellipse 65"/>
          <p:cNvSpPr/>
          <p:nvPr/>
        </p:nvSpPr>
        <p:spPr>
          <a:xfrm>
            <a:off x="3279600" y="745092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1" name="Ellipse 66"/>
          <p:cNvSpPr/>
          <p:nvPr/>
        </p:nvSpPr>
        <p:spPr>
          <a:xfrm>
            <a:off x="342504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2" name="Ellipse 67"/>
          <p:cNvSpPr/>
          <p:nvPr/>
        </p:nvSpPr>
        <p:spPr>
          <a:xfrm>
            <a:off x="356148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3" name="Ellipse 68"/>
          <p:cNvSpPr/>
          <p:nvPr/>
        </p:nvSpPr>
        <p:spPr>
          <a:xfrm>
            <a:off x="3697920" y="7446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4" name="Ellipse 69"/>
          <p:cNvSpPr/>
          <p:nvPr/>
        </p:nvSpPr>
        <p:spPr>
          <a:xfrm>
            <a:off x="3834360" y="74466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5" name="Ellipse 70"/>
          <p:cNvSpPr/>
          <p:nvPr/>
        </p:nvSpPr>
        <p:spPr>
          <a:xfrm>
            <a:off x="5243040" y="74502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6" name="Ellipse 71"/>
          <p:cNvSpPr/>
          <p:nvPr/>
        </p:nvSpPr>
        <p:spPr>
          <a:xfrm>
            <a:off x="5388480" y="744552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7" name="Ellipse 72"/>
          <p:cNvSpPr/>
          <p:nvPr/>
        </p:nvSpPr>
        <p:spPr>
          <a:xfrm>
            <a:off x="5524920" y="744552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8" name="Ellipse 73"/>
          <p:cNvSpPr/>
          <p:nvPr/>
        </p:nvSpPr>
        <p:spPr>
          <a:xfrm>
            <a:off x="5661360" y="744552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19" name="Ellipse 74"/>
          <p:cNvSpPr/>
          <p:nvPr/>
        </p:nvSpPr>
        <p:spPr>
          <a:xfrm>
            <a:off x="5797800" y="744552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0" name="Ellipse 75"/>
          <p:cNvSpPr/>
          <p:nvPr/>
        </p:nvSpPr>
        <p:spPr>
          <a:xfrm>
            <a:off x="5243040" y="779328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1" name="Ellipse 76"/>
          <p:cNvSpPr/>
          <p:nvPr/>
        </p:nvSpPr>
        <p:spPr>
          <a:xfrm>
            <a:off x="538848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2" name="Ellipse 77"/>
          <p:cNvSpPr/>
          <p:nvPr/>
        </p:nvSpPr>
        <p:spPr>
          <a:xfrm>
            <a:off x="552492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3" name="Ellipse 78"/>
          <p:cNvSpPr/>
          <p:nvPr/>
        </p:nvSpPr>
        <p:spPr>
          <a:xfrm>
            <a:off x="5661360" y="77886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4" name="Ellipse 79"/>
          <p:cNvSpPr/>
          <p:nvPr/>
        </p:nvSpPr>
        <p:spPr>
          <a:xfrm>
            <a:off x="5797800" y="77886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5" name="Ellipse 1"/>
          <p:cNvSpPr/>
          <p:nvPr/>
        </p:nvSpPr>
        <p:spPr>
          <a:xfrm>
            <a:off x="5246280" y="814752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6" name="Ellipse 2"/>
          <p:cNvSpPr/>
          <p:nvPr/>
        </p:nvSpPr>
        <p:spPr>
          <a:xfrm>
            <a:off x="5392080" y="81432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7" name="Ellipse 11"/>
          <p:cNvSpPr/>
          <p:nvPr/>
        </p:nvSpPr>
        <p:spPr>
          <a:xfrm>
            <a:off x="5528520" y="81432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8" name="Ellipse 12"/>
          <p:cNvSpPr/>
          <p:nvPr/>
        </p:nvSpPr>
        <p:spPr>
          <a:xfrm>
            <a:off x="5664960" y="8143200"/>
            <a:ext cx="92160" cy="91080"/>
          </a:xfrm>
          <a:prstGeom prst="ellipse">
            <a:avLst/>
          </a:prstGeom>
          <a:solidFill>
            <a:srgbClr val="002060"/>
          </a:solidFill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29" name="Ellipse 13"/>
          <p:cNvSpPr/>
          <p:nvPr/>
        </p:nvSpPr>
        <p:spPr>
          <a:xfrm>
            <a:off x="5801400" y="8143200"/>
            <a:ext cx="92160" cy="91080"/>
          </a:xfrm>
          <a:prstGeom prst="ellipse">
            <a:avLst/>
          </a:prstGeom>
          <a:noFill/>
          <a:ln>
            <a:solidFill>
              <a:srgbClr val="1d3155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23040" bIns="23040" anchor="ctr">
            <a:noAutofit/>
          </a:bodyPr>
          <a:p>
            <a:pPr algn="ctr" defTabSz="457200">
              <a:lnSpc>
                <a:spcPct val="100000"/>
              </a:lnSpc>
            </a:pPr>
            <a:endParaRPr lang="de-DE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130" name="Textfeld 14"/>
          <p:cNvSpPr/>
          <p:nvPr/>
        </p:nvSpPr>
        <p:spPr>
          <a:xfrm>
            <a:off x="0" y="124272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10/2020 – 11/2024 Braunschweig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31" name="Gerader Verbinder 15"/>
          <p:cNvCxnSpPr/>
          <p:nvPr/>
        </p:nvCxnSpPr>
        <p:spPr>
          <a:xfrm>
            <a:off x="1282680" y="444240"/>
            <a:ext cx="4680" cy="5897520"/>
          </a:xfrm>
          <a:prstGeom prst="straightConnector1">
            <a:avLst/>
          </a:prstGeom>
          <a:ln w="0">
            <a:solidFill>
              <a:srgbClr val="002060"/>
            </a:solidFill>
          </a:ln>
        </p:spPr>
      </p:cxnSp>
      <p:sp>
        <p:nvSpPr>
          <p:cNvPr id="132" name="Textfeld 16"/>
          <p:cNvSpPr/>
          <p:nvPr/>
        </p:nvSpPr>
        <p:spPr>
          <a:xfrm>
            <a:off x="0" y="335304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01/2013 – 07/2019 Kolumbien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feld 18"/>
          <p:cNvSpPr/>
          <p:nvPr/>
        </p:nvSpPr>
        <p:spPr>
          <a:xfrm>
            <a:off x="0" y="494028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06/2019 – 06/2020  Usingen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feld 19"/>
          <p:cNvSpPr/>
          <p:nvPr/>
        </p:nvSpPr>
        <p:spPr>
          <a:xfrm>
            <a:off x="0" y="5664240"/>
            <a:ext cx="1341360" cy="641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04/2012, 2013, 2014 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Kolumbien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Textfeld 8"/>
          <p:cNvSpPr/>
          <p:nvPr/>
        </p:nvSpPr>
        <p:spPr>
          <a:xfrm>
            <a:off x="360" y="444960"/>
            <a:ext cx="1341360" cy="45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ctr" defTabSz="457200">
              <a:lnSpc>
                <a:spcPct val="100000"/>
              </a:lnSpc>
            </a:pPr>
            <a:r>
              <a:rPr lang="de-DE" sz="1200" b="0" u="none" strike="noStrike">
                <a:solidFill>
                  <a:srgbClr val="002060"/>
                </a:solidFill>
                <a:effectLst/>
                <a:uFillTx/>
                <a:latin typeface="Tahoma"/>
                <a:ea typeface="Tahoma"/>
              </a:rPr>
              <a:t> 12/2025 - 03/2026 Online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14</TotalTime>
  <Application>LibreOffice/25.8.5.2$Windows_X86_64 LibreOffice_project/9c8b85f387cc00a89945a79c9e6239f32e450ac2</Application>
  <AppVersion>15.0000</AppVersion>
  <Words>474</Words>
  <Paragraphs>65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2024-10-15T15:37:39Z</dcterms:created>
  <dc:creator>juan aponte</dc:creator>
  <dc:description/>
  <dc:language>de-DE</dc:language>
  <cp:lastModifiedBy/>
  <dcterms:modified xsi:type="dcterms:W3CDTF">2026-05-05T15:23:17Z</dcterms:modified>
  <cp:revision>55</cp:revision>
  <dc:subject/>
  <dc:title>PowerPoint-Präsentation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A4-Papier (210 x 297 mm)</vt:lpwstr>
  </property>
  <property fmtid="{D5CDD505-2E9C-101B-9397-08002B2CF9AE}" pid="3" name="Slides">
    <vt:i4>2</vt:i4>
  </property>
</Properties>
</file>