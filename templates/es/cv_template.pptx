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6858000" cy="990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2280" cy="191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2280" cy="628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14328A-D327-480C-8B3C-97A8376D2A3E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07880" y="527400"/>
            <a:ext cx="1476000" cy="839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71600" y="527400"/>
            <a:ext cx="4347720" cy="839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BCDF36-BBE7-4DE1-8A22-31ACD174758B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2280" cy="191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5912280" cy="628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93BDAC-CED4-4B43-A76D-D730EC40D94F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8000" y="2469600"/>
            <a:ext cx="5912280" cy="411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68000" y="6629400"/>
            <a:ext cx="5912280" cy="21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706E2F-555B-4D96-A4B0-F375EF79BA39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2280" cy="191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71600" y="2637000"/>
            <a:ext cx="2911680" cy="628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3471840" y="2637000"/>
            <a:ext cx="2911680" cy="628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25EF51-2B8D-40BE-A00E-B1309A8B4C12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72320" y="527400"/>
            <a:ext cx="5912280" cy="191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72320" y="2428200"/>
            <a:ext cx="28983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72320" y="3618360"/>
            <a:ext cx="2898360" cy="53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3471840" y="2428200"/>
            <a:ext cx="29127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3471840" y="3618360"/>
            <a:ext cx="2912760" cy="53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3742710-D47F-4265-89DC-7388C1E8BD7D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71600" y="527400"/>
            <a:ext cx="5912280" cy="191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5DD142-F619-4594-8603-91DD80887558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068392-F3B3-4E99-B85E-509F42C6F5B8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08960" cy="230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68960" cy="703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de-DE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08960" cy="550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D5910A-4EB4-495C-AE80-0DED8280656E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72320" y="660240"/>
            <a:ext cx="2208960" cy="230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2915640" y="1426320"/>
            <a:ext cx="3468960" cy="703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Bild durch Klicken auf Symbol hinzufügen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72320" y="2971800"/>
            <a:ext cx="2208960" cy="550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2B8A51-C1FC-421C-B8FD-28A281BE0AEC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14440" y="1621080"/>
            <a:ext cx="5826600" cy="34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lang="de-DE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de-DE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7160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271600" y="9181440"/>
            <a:ext cx="23115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4843440" y="9181440"/>
            <a:ext cx="15400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01C517-3B83-4102-99F9-98E991AA980C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342720" y="2317680"/>
            <a:ext cx="6169320" cy="57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de-DE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juanaponterojas01/Digital_Twin_Battery_with_LSTM" TargetMode="External"/><Relationship Id="rId2" Type="http://schemas.openxmlformats.org/officeDocument/2006/relationships/hyperlink" Target="https://huggingface.co/spaces/juanaponterojas01/battery-soc-digital-twin" TargetMode="External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feld 3"/>
          <p:cNvSpPr/>
          <p:nvPr/>
        </p:nvSpPr>
        <p:spPr>
          <a:xfrm>
            <a:off x="2269080" y="153360"/>
            <a:ext cx="3413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Juan Aponte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ES" sz="14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Ingeniero de Simulaciones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feld 5"/>
          <p:cNvSpPr/>
          <p:nvPr/>
        </p:nvSpPr>
        <p:spPr>
          <a:xfrm>
            <a:off x="2269080" y="895680"/>
            <a:ext cx="45694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Email: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jumapontero@unal.edu.co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Teléfono: 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   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 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+49 1590 6402645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Dirección: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   C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alle 66B #57B – 04, Bogotá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Fecha de  nacimento: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22.11.1994, Bogotá Colombia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LinkedIn: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            l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ahoma"/>
                <a:ea typeface="Tahoma"/>
              </a:rPr>
              <a:t>inkedin.com/in/juan-aponte-736a79126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Gerader Verbinder 8"/>
          <p:cNvCxnSpPr/>
          <p:nvPr/>
        </p:nvCxnSpPr>
        <p:spPr>
          <a:xfrm>
            <a:off x="355320" y="2082600"/>
            <a:ext cx="5959440" cy="288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63" name="Textfeld 11"/>
          <p:cNvSpPr/>
          <p:nvPr/>
        </p:nvSpPr>
        <p:spPr>
          <a:xfrm>
            <a:off x="401400" y="2165040"/>
            <a:ext cx="175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Perfil Profesional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feld 12"/>
          <p:cNvSpPr/>
          <p:nvPr/>
        </p:nvSpPr>
        <p:spPr>
          <a:xfrm>
            <a:off x="571680" y="2493000"/>
            <a:ext cx="590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0000"/>
              </a:lnSpc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[professional_summary]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feld 13"/>
          <p:cNvSpPr/>
          <p:nvPr/>
        </p:nvSpPr>
        <p:spPr>
          <a:xfrm>
            <a:off x="2520000" y="3556440"/>
            <a:ext cx="2049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Experiencia  laboral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feld 14"/>
          <p:cNvSpPr/>
          <p:nvPr/>
        </p:nvSpPr>
        <p:spPr>
          <a:xfrm>
            <a:off x="1346040" y="3860640"/>
            <a:ext cx="5293080" cy="57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457200">
              <a:lnSpc>
                <a:spcPct val="107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Formación autodidácta en Machine Learning. Agentes de IA y trabajos autónomos en projectos como el modelado de sistemas de baterías.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457200">
              <a:lnSpc>
                <a:spcPct val="107000"/>
              </a:lnSpc>
              <a:spcAft>
                <a:spcPts val="799"/>
              </a:spcAft>
              <a:buClr>
                <a:srgbClr val="002060"/>
              </a:buClr>
              <a:buFont typeface="Symbol" charset="2"/>
              <a:buChar char=""/>
            </a:pP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Proyecto: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Gemelo digital basado en LSTM e informado por un modelo físico para la estimación del estado de carga (SOC) the una batería. Más información disponible en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  <a:hlinkClick r:id="rId1"/>
              </a:rPr>
              <a:t>GitHub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y </a:t>
            </a:r>
            <a:r>
              <a:rPr lang="de-DE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  <a:hlinkClick r:id="rId2"/>
              </a:rPr>
              <a:t>HuggingFace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lang="es-E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Tésis de maestría en TLK-Thermo GmbH en el campo de modelado, simulación y optimización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Proyecto:</a:t>
            </a: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Optimización del proceso de carga para un sistema de baterías de automóbil.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Descripción de un modelo de batería 1D en Modelica con refrigeración teniendo en cuenta fenómenos de convección libre.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Modelado del </a:t>
            </a:r>
            <a:r>
              <a:rPr lang="es-ES" sz="1200" b="0" i="1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derating</a:t>
            </a: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de corriente mediante la integración de tablas de interpolación basadas en datos experimentales de una batería de automóbil.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Formulación y solución de un problema de control y optimización con el software CasADi.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lang="es-E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Pasante y desarrolador de software en TLK-Thermo GmbH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7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Desarrollador backend para el procesamiento y la conversión de datos entre archivos JSON y clases de Python.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7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Implementación de una interfaz gráfica de usuario para el procesamiento y almacenamiento del software backend.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7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7000"/>
              </a:lnSpc>
              <a:spcAft>
                <a:spcPts val="799"/>
              </a:spcAft>
            </a:pPr>
            <a:r>
              <a:rPr lang="es-E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Asistente de investigación en un banco de prueba para sellos adaptativos en turbomáquinas, TU Braunschweig (Instituto IFAS)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7000"/>
              </a:lnSpc>
              <a:spcAft>
                <a:spcPts val="799"/>
              </a:spcAft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Montaje de pruebas, realización de pruebas y evaluación de resultados experimentales con MATLAB.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Gerader Verbinder 15"/>
          <p:cNvCxnSpPr/>
          <p:nvPr/>
        </p:nvCxnSpPr>
        <p:spPr>
          <a:xfrm>
            <a:off x="291960" y="126720"/>
            <a:ext cx="6009840" cy="288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68" name="CuadroTexto 111"/>
          <p:cNvSpPr/>
          <p:nvPr/>
        </p:nvSpPr>
        <p:spPr>
          <a:xfrm>
            <a:off x="3208320" y="9675000"/>
            <a:ext cx="961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Página 1 de 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rafik 21"/>
          <p:cNvPicPr/>
          <p:nvPr/>
        </p:nvPicPr>
        <p:blipFill>
          <a:blip r:embed="rId3"/>
          <a:srcRect l="17051" t="10276" r="8874" b="25731"/>
          <a:stretch/>
        </p:blipFill>
        <p:spPr>
          <a:xfrm>
            <a:off x="495360" y="213480"/>
            <a:ext cx="1559160" cy="179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feld 1"/>
          <p:cNvSpPr/>
          <p:nvPr/>
        </p:nvSpPr>
        <p:spPr>
          <a:xfrm>
            <a:off x="0" y="5074200"/>
            <a:ext cx="1343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04/2024 – 11/2024 Brunswick, Alemania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erader Verbinder 4"/>
          <p:cNvCxnSpPr/>
          <p:nvPr/>
        </p:nvCxnSpPr>
        <p:spPr>
          <a:xfrm>
            <a:off x="1280520" y="3841920"/>
            <a:ext cx="5040" cy="578736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72" name="Textfeld 7"/>
          <p:cNvSpPr/>
          <p:nvPr/>
        </p:nvSpPr>
        <p:spPr>
          <a:xfrm>
            <a:off x="2880" y="7398360"/>
            <a:ext cx="1343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10/2023 – 03/2024 Brunswick, Alemania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feld 9"/>
          <p:cNvSpPr/>
          <p:nvPr/>
        </p:nvSpPr>
        <p:spPr>
          <a:xfrm>
            <a:off x="1440" y="8712000"/>
            <a:ext cx="1343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10/2022 – 04/2023 Brunswick, Alemania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2840" y="3901320"/>
            <a:ext cx="1158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Desde 02/2026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feld 3"/>
          <p:cNvSpPr/>
          <p:nvPr/>
        </p:nvSpPr>
        <p:spPr>
          <a:xfrm>
            <a:off x="3149640" y="88920"/>
            <a:ext cx="1330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Educación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feld 4"/>
          <p:cNvSpPr/>
          <p:nvPr/>
        </p:nvSpPr>
        <p:spPr>
          <a:xfrm>
            <a:off x="1346040" y="351360"/>
            <a:ext cx="5313600" cy="42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Bootcamp de PyTorch en Deep Learning bootcamp, ZTM Academy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2060"/>
              </a:buClr>
              <a:buFont typeface="Arial"/>
              <a:buChar char="•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Curso práctico de Deep Learning que incluye la construcción de redes neuronales, entrenamiento, desplegue en aplicaciones como vision computacional.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Máster en Ingeniería Mecánica con especialización en Ingeniería de Energías y Procesos, TU Braunschweig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[master_subjects]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Conocimientos profundos en el cálculo y diseño de máquinas de desplazamiento positivo, turbomáquinas hidráulicas y turbinas eólicas.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Proyecto académico:</a:t>
            </a: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Implementación de sensores de medición para  el análisis del comportamiento operativo de los sellos de anillo flotante de carbón en ventiladores y compresores.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Pregrado en Ingeniería Mecánica, Universidad Nacional de Colombia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sng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Tesis de pregrado:</a:t>
            </a: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 Desarrollo de un solucionador de flujo incompresible para investigar fenómenos de turbulencia en dominios simples.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[bachelor_subjects]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Bachillerato, Colegio Emmanuel d’Alzón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feld 5"/>
          <p:cNvSpPr/>
          <p:nvPr/>
        </p:nvSpPr>
        <p:spPr>
          <a:xfrm>
            <a:off x="2768760" y="5150160"/>
            <a:ext cx="2105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Otros logros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feld 6"/>
          <p:cNvSpPr/>
          <p:nvPr/>
        </p:nvSpPr>
        <p:spPr>
          <a:xfrm>
            <a:off x="1346040" y="5469840"/>
            <a:ext cx="5509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Intercambio cultural en Alemania como Au-Pair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feld 7"/>
          <p:cNvSpPr/>
          <p:nvPr/>
        </p:nvSpPr>
        <p:spPr>
          <a:xfrm>
            <a:off x="1346040" y="5928840"/>
            <a:ext cx="561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Voluntario en la comunidad católica “Asuncionistas”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Acompañamiento y apoyo a jóvenes en zonas rurales desfavorecidas.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uadroTexto 111"/>
          <p:cNvSpPr/>
          <p:nvPr/>
        </p:nvSpPr>
        <p:spPr>
          <a:xfrm>
            <a:off x="3208320" y="9675000"/>
            <a:ext cx="961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Página 2 de 2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feld 9"/>
          <p:cNvSpPr/>
          <p:nvPr/>
        </p:nvSpPr>
        <p:spPr>
          <a:xfrm>
            <a:off x="2700000" y="6674040"/>
            <a:ext cx="222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Habilidades Prácticas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feld 10"/>
          <p:cNvSpPr/>
          <p:nvPr/>
        </p:nvSpPr>
        <p:spPr>
          <a:xfrm>
            <a:off x="657360" y="6971040"/>
            <a:ext cx="5788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E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Conocimientos informáticos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Python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Modelica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C++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Matlab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Inventor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MS Office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OpenFOAM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Abaqus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	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CasADi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feld 38"/>
          <p:cNvSpPr/>
          <p:nvPr/>
        </p:nvSpPr>
        <p:spPr>
          <a:xfrm>
            <a:off x="601200" y="8528400"/>
            <a:ext cx="21297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Idiomas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Español: Nativo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Alemán: C1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Inglés: B2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feld 39"/>
          <p:cNvSpPr/>
          <p:nvPr/>
        </p:nvSpPr>
        <p:spPr>
          <a:xfrm>
            <a:off x="3491280" y="8546760"/>
            <a:ext cx="2449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Intereses personales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Tocar guitarra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Ajedrez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Tejer en dos agujas y crochet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Ellipse 40"/>
          <p:cNvSpPr/>
          <p:nvPr/>
        </p:nvSpPr>
        <p:spPr>
          <a:xfrm>
            <a:off x="1658160" y="745092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Ellipse 41"/>
          <p:cNvSpPr/>
          <p:nvPr/>
        </p:nvSpPr>
        <p:spPr>
          <a:xfrm>
            <a:off x="180396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Ellipse 42"/>
          <p:cNvSpPr/>
          <p:nvPr/>
        </p:nvSpPr>
        <p:spPr>
          <a:xfrm>
            <a:off x="194040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Ellipse 43"/>
          <p:cNvSpPr/>
          <p:nvPr/>
        </p:nvSpPr>
        <p:spPr>
          <a:xfrm>
            <a:off x="207684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Ellipse 44"/>
          <p:cNvSpPr/>
          <p:nvPr/>
        </p:nvSpPr>
        <p:spPr>
          <a:xfrm>
            <a:off x="221328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Ellipse 45"/>
          <p:cNvSpPr/>
          <p:nvPr/>
        </p:nvSpPr>
        <p:spPr>
          <a:xfrm>
            <a:off x="1663920" y="81522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Ellipse 46"/>
          <p:cNvSpPr/>
          <p:nvPr/>
        </p:nvSpPr>
        <p:spPr>
          <a:xfrm>
            <a:off x="1809360" y="81478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Ellipse 47"/>
          <p:cNvSpPr/>
          <p:nvPr/>
        </p:nvSpPr>
        <p:spPr>
          <a:xfrm>
            <a:off x="1945800" y="81478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Ellipse 48"/>
          <p:cNvSpPr/>
          <p:nvPr/>
        </p:nvSpPr>
        <p:spPr>
          <a:xfrm>
            <a:off x="2082240" y="814788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Ellipse 49"/>
          <p:cNvSpPr/>
          <p:nvPr/>
        </p:nvSpPr>
        <p:spPr>
          <a:xfrm>
            <a:off x="2218680" y="814788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Ellipse 50"/>
          <p:cNvSpPr/>
          <p:nvPr/>
        </p:nvSpPr>
        <p:spPr>
          <a:xfrm>
            <a:off x="3279600" y="81802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Ellipse 51"/>
          <p:cNvSpPr/>
          <p:nvPr/>
        </p:nvSpPr>
        <p:spPr>
          <a:xfrm>
            <a:off x="3425040" y="8175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Ellipse 52"/>
          <p:cNvSpPr/>
          <p:nvPr/>
        </p:nvSpPr>
        <p:spPr>
          <a:xfrm>
            <a:off x="3561480" y="8175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Ellipse 53"/>
          <p:cNvSpPr/>
          <p:nvPr/>
        </p:nvSpPr>
        <p:spPr>
          <a:xfrm>
            <a:off x="3697920" y="817560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Ellipse 54"/>
          <p:cNvSpPr/>
          <p:nvPr/>
        </p:nvSpPr>
        <p:spPr>
          <a:xfrm>
            <a:off x="3834360" y="817560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Ellipse 55"/>
          <p:cNvSpPr/>
          <p:nvPr/>
        </p:nvSpPr>
        <p:spPr>
          <a:xfrm>
            <a:off x="1658160" y="77932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Ellipse 56"/>
          <p:cNvSpPr/>
          <p:nvPr/>
        </p:nvSpPr>
        <p:spPr>
          <a:xfrm>
            <a:off x="1803960" y="7788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Ellipse 57"/>
          <p:cNvSpPr/>
          <p:nvPr/>
        </p:nvSpPr>
        <p:spPr>
          <a:xfrm>
            <a:off x="1940400" y="7788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Ellipse 58"/>
          <p:cNvSpPr/>
          <p:nvPr/>
        </p:nvSpPr>
        <p:spPr>
          <a:xfrm>
            <a:off x="2076840" y="7788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Ellipse 59"/>
          <p:cNvSpPr/>
          <p:nvPr/>
        </p:nvSpPr>
        <p:spPr>
          <a:xfrm>
            <a:off x="2213280" y="778860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Ellipse 60"/>
          <p:cNvSpPr/>
          <p:nvPr/>
        </p:nvSpPr>
        <p:spPr>
          <a:xfrm>
            <a:off x="3268080" y="782136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Ellipse 61"/>
          <p:cNvSpPr/>
          <p:nvPr/>
        </p:nvSpPr>
        <p:spPr>
          <a:xfrm>
            <a:off x="3413880" y="78166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Ellipse 62"/>
          <p:cNvSpPr/>
          <p:nvPr/>
        </p:nvSpPr>
        <p:spPr>
          <a:xfrm>
            <a:off x="3550320" y="78166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Ellipse 63"/>
          <p:cNvSpPr/>
          <p:nvPr/>
        </p:nvSpPr>
        <p:spPr>
          <a:xfrm>
            <a:off x="3686760" y="78166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Ellipse 64"/>
          <p:cNvSpPr/>
          <p:nvPr/>
        </p:nvSpPr>
        <p:spPr>
          <a:xfrm>
            <a:off x="3823200" y="781668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Ellipse 65"/>
          <p:cNvSpPr/>
          <p:nvPr/>
        </p:nvSpPr>
        <p:spPr>
          <a:xfrm>
            <a:off x="3279600" y="745092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Ellipse 66"/>
          <p:cNvSpPr/>
          <p:nvPr/>
        </p:nvSpPr>
        <p:spPr>
          <a:xfrm>
            <a:off x="342504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Ellipse 67"/>
          <p:cNvSpPr/>
          <p:nvPr/>
        </p:nvSpPr>
        <p:spPr>
          <a:xfrm>
            <a:off x="356148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Ellipse 68"/>
          <p:cNvSpPr/>
          <p:nvPr/>
        </p:nvSpPr>
        <p:spPr>
          <a:xfrm>
            <a:off x="3697920" y="7446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Ellipse 69"/>
          <p:cNvSpPr/>
          <p:nvPr/>
        </p:nvSpPr>
        <p:spPr>
          <a:xfrm>
            <a:off x="3834360" y="744660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Ellipse 70"/>
          <p:cNvSpPr/>
          <p:nvPr/>
        </p:nvSpPr>
        <p:spPr>
          <a:xfrm>
            <a:off x="5243040" y="74502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Ellipse 71"/>
          <p:cNvSpPr/>
          <p:nvPr/>
        </p:nvSpPr>
        <p:spPr>
          <a:xfrm>
            <a:off x="5388480" y="744552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Ellipse 72"/>
          <p:cNvSpPr/>
          <p:nvPr/>
        </p:nvSpPr>
        <p:spPr>
          <a:xfrm>
            <a:off x="5524920" y="744552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Ellipse 73"/>
          <p:cNvSpPr/>
          <p:nvPr/>
        </p:nvSpPr>
        <p:spPr>
          <a:xfrm>
            <a:off x="5661360" y="744552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Ellipse 74"/>
          <p:cNvSpPr/>
          <p:nvPr/>
        </p:nvSpPr>
        <p:spPr>
          <a:xfrm>
            <a:off x="5797800" y="744552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Ellipse 75"/>
          <p:cNvSpPr/>
          <p:nvPr/>
        </p:nvSpPr>
        <p:spPr>
          <a:xfrm>
            <a:off x="5243040" y="779328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Ellipse 76"/>
          <p:cNvSpPr/>
          <p:nvPr/>
        </p:nvSpPr>
        <p:spPr>
          <a:xfrm>
            <a:off x="5388480" y="7788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Ellipse 77"/>
          <p:cNvSpPr/>
          <p:nvPr/>
        </p:nvSpPr>
        <p:spPr>
          <a:xfrm>
            <a:off x="5524920" y="7788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Ellipse 78"/>
          <p:cNvSpPr/>
          <p:nvPr/>
        </p:nvSpPr>
        <p:spPr>
          <a:xfrm>
            <a:off x="5661360" y="77886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Ellipse 79"/>
          <p:cNvSpPr/>
          <p:nvPr/>
        </p:nvSpPr>
        <p:spPr>
          <a:xfrm>
            <a:off x="5797800" y="778860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Ellipse 1"/>
          <p:cNvSpPr/>
          <p:nvPr/>
        </p:nvSpPr>
        <p:spPr>
          <a:xfrm>
            <a:off x="5246280" y="814752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Ellipse 2"/>
          <p:cNvSpPr/>
          <p:nvPr/>
        </p:nvSpPr>
        <p:spPr>
          <a:xfrm>
            <a:off x="5392080" y="81432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Ellipse 11"/>
          <p:cNvSpPr/>
          <p:nvPr/>
        </p:nvSpPr>
        <p:spPr>
          <a:xfrm>
            <a:off x="5528520" y="81432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Ellipse 12"/>
          <p:cNvSpPr/>
          <p:nvPr/>
        </p:nvSpPr>
        <p:spPr>
          <a:xfrm>
            <a:off x="5664960" y="8143200"/>
            <a:ext cx="93960" cy="92880"/>
          </a:xfrm>
          <a:prstGeom prst="ellipse">
            <a:avLst/>
          </a:prstGeom>
          <a:solidFill>
            <a:srgbClr val="002060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Ellipse 13"/>
          <p:cNvSpPr/>
          <p:nvPr/>
        </p:nvSpPr>
        <p:spPr>
          <a:xfrm>
            <a:off x="5801400" y="8143200"/>
            <a:ext cx="93960" cy="92880"/>
          </a:xfrm>
          <a:prstGeom prst="ellipse">
            <a:avLst/>
          </a:prstGeom>
          <a:noFill/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040" bIns="23040" anchor="ctr">
            <a:noAutofit/>
          </a:bodyPr>
          <a:p>
            <a:pPr algn="ctr" defTabSz="4572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feld 14"/>
          <p:cNvSpPr/>
          <p:nvPr/>
        </p:nvSpPr>
        <p:spPr>
          <a:xfrm>
            <a:off x="0" y="1350720"/>
            <a:ext cx="13431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10/2020 – 11/2024 Brunswick, Alemania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Gerader Verbinder 15"/>
          <p:cNvCxnSpPr/>
          <p:nvPr/>
        </p:nvCxnSpPr>
        <p:spPr>
          <a:xfrm>
            <a:off x="1282680" y="444240"/>
            <a:ext cx="2880" cy="5895720"/>
          </a:xfrm>
          <a:prstGeom prst="straightConnector1">
            <a:avLst/>
          </a:prstGeom>
          <a:ln w="0">
            <a:solidFill>
              <a:srgbClr val="002060"/>
            </a:solidFill>
          </a:ln>
        </p:spPr>
      </p:cxnSp>
      <p:sp>
        <p:nvSpPr>
          <p:cNvPr id="132" name="Textfeld 16"/>
          <p:cNvSpPr/>
          <p:nvPr/>
        </p:nvSpPr>
        <p:spPr>
          <a:xfrm>
            <a:off x="0" y="3065040"/>
            <a:ext cx="1343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01/2013 – 07/2019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Bogotá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feld 17"/>
          <p:cNvSpPr/>
          <p:nvPr/>
        </p:nvSpPr>
        <p:spPr>
          <a:xfrm>
            <a:off x="0" y="4383720"/>
            <a:ext cx="1343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02/2001 – 11/2012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Bogotá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feld 18"/>
          <p:cNvSpPr/>
          <p:nvPr/>
        </p:nvSpPr>
        <p:spPr>
          <a:xfrm>
            <a:off x="0" y="5300280"/>
            <a:ext cx="1343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 06/2019 –06/2020  Alemania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feld 19"/>
          <p:cNvSpPr/>
          <p:nvPr/>
        </p:nvSpPr>
        <p:spPr>
          <a:xfrm>
            <a:off x="0" y="5988240"/>
            <a:ext cx="134316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04/2012, 2013, 2014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Colombia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2840" y="373680"/>
            <a:ext cx="1158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de-DE" sz="1200" b="0" u="none" strike="noStrike">
                <a:solidFill>
                  <a:srgbClr val="002060"/>
                </a:solidFill>
                <a:effectLst/>
                <a:uFillTx/>
                <a:latin typeface="Tahoma"/>
                <a:ea typeface="Tahoma"/>
              </a:rPr>
              <a:t>12/2025 – 03/2026 Online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</TotalTime>
  <Application>LibreOffice/25.8.5.2$Windows_X86_64 LibreOffice_project/9c8b85f387cc00a89945a79c9e6239f32e450ac2</Application>
  <AppVersion>15.0000</AppVersion>
  <Words>469</Words>
  <Paragraphs>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2024-10-15T15:37:39Z</dcterms:created>
  <dc:creator>juan aponte</dc:creator>
  <dc:description/>
  <dc:language>de-DE</dc:language>
  <cp:lastModifiedBy/>
  <dcterms:modified xsi:type="dcterms:W3CDTF">2026-05-05T21:54:58Z</dcterms:modified>
  <cp:revision>51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A4-Papier (210 x 297 mm)</vt:lpwstr>
  </property>
  <property fmtid="{D5CDD505-2E9C-101B-9397-08002B2CF9AE}" pid="3" name="Slides">
    <vt:i4>2</vt:i4>
  </property>
</Properties>
</file>